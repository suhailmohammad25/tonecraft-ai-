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docProps/custom.xml" ContentType="application/vnd.openxmlformats-officedocument.custom-properti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Liter" charset="0"/>
      <p:regular r:id="rId16"/>
    </p:embeddedFont>
    <p:embeddedFont>
      <p:font typeface="Calibri" pitchFamily="34" charset="0"/>
      <p:regular r:id="rId17"/>
      <p:bold r:id="rId18"/>
      <p:italic r:id="rId19"/>
      <p:boldItalic r:id="rId20"/>
    </p:embeddedFont>
    <p:embeddedFont>
      <p:font typeface="Quattrocento Sans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-112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1366" y="381000"/>
            <a:ext cx="3667125" cy="419100"/>
          </a:xfrm>
          <a:prstGeom prst="roundRect">
            <a:avLst>
              <a:gd name="adj" fmla="val 0"/>
            </a:avLst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3632121" y="1028700"/>
            <a:ext cx="492442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3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ToneCraft 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03558" y="1895475"/>
            <a:ext cx="4781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00" dirty="0">
                <a:solidFill>
                  <a:srgbClr val="2980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Emotion-Aware Response Composer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2543175"/>
            <a:ext cx="1219200" cy="38100"/>
          </a:xfrm>
          <a:prstGeom prst="roundRect">
            <a:avLst>
              <a:gd name="adj" fmla="val 0"/>
            </a:avLst>
          </a:prstGeom>
          <a:solidFill>
            <a:srgbClr val="2980B9"/>
          </a:solidFill>
          <a:ln/>
        </p:spPr>
      </p:sp>
      <p:sp>
        <p:nvSpPr>
          <p:cNvPr id="6" name="Text 4"/>
          <p:cNvSpPr/>
          <p:nvPr/>
        </p:nvSpPr>
        <p:spPr>
          <a:xfrm>
            <a:off x="3717846" y="2886075"/>
            <a:ext cx="4752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Experience / Customer Support  System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5402580"/>
            <a:ext cx="11430000" cy="15240"/>
          </a:xfrm>
          <a:prstGeom prst="roundRect">
            <a:avLst>
              <a:gd name="adj" fmla="val 0"/>
            </a:avLst>
          </a:prstGeom>
          <a:solidFill>
            <a:srgbClr val="2C3E50"/>
          </a:solidFill>
          <a:ln/>
        </p:spPr>
      </p:sp>
      <p:sp>
        <p:nvSpPr>
          <p:cNvPr id="8" name="Text 6"/>
          <p:cNvSpPr/>
          <p:nvPr/>
        </p:nvSpPr>
        <p:spPr>
          <a:xfrm>
            <a:off x="338138" y="56388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2900" y="6057900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Nikhil Kumar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663" y="6286500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AP23110010119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59380" y="6057900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Rishik Gorakala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4143" y="6286500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AP23110010446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75860" y="6057900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Suhail Mohammad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0623" y="6286500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AP23110011156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92340" y="6057900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Sriya Reddy T.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97103" y="6286500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AP23110011159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8820" y="6057900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Rishi Kumar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13582" y="6286500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AP23110011088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2980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Context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prstGeom prst="roundRect">
            <a:avLst>
              <a:gd name="adj" fmla="val 0"/>
            </a:avLst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5240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980B9"/>
          </a:solidFill>
          <a:ln/>
        </p:spPr>
      </p:sp>
      <p:sp>
        <p:nvSpPr>
          <p:cNvPr id="6" name="Shape 4"/>
          <p:cNvSpPr/>
          <p:nvPr/>
        </p:nvSpPr>
        <p:spPr>
          <a:xfrm>
            <a:off x="526256" y="16573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23812"/>
                </a:moveTo>
                <a:cubicBezTo>
                  <a:pt x="53950" y="23812"/>
                  <a:pt x="29505" y="45132"/>
                  <a:pt x="24668" y="73186"/>
                </a:cubicBezTo>
                <a:cubicBezTo>
                  <a:pt x="28129" y="72070"/>
                  <a:pt x="31849" y="71438"/>
                  <a:pt x="35719" y="71438"/>
                </a:cubicBezTo>
                <a:lnTo>
                  <a:pt x="41672" y="71438"/>
                </a:lnTo>
                <a:cubicBezTo>
                  <a:pt x="51532" y="71438"/>
                  <a:pt x="59531" y="79437"/>
                  <a:pt x="59531" y="89297"/>
                </a:cubicBezTo>
                <a:lnTo>
                  <a:pt x="59531" y="125016"/>
                </a:lnTo>
                <a:cubicBezTo>
                  <a:pt x="59531" y="134875"/>
                  <a:pt x="51532" y="142875"/>
                  <a:pt x="41672" y="142875"/>
                </a:cubicBezTo>
                <a:lnTo>
                  <a:pt x="35719" y="142875"/>
                </a:lnTo>
                <a:cubicBezTo>
                  <a:pt x="15999" y="142875"/>
                  <a:pt x="0" y="126876"/>
                  <a:pt x="0" y="107156"/>
                </a:cubicBezTo>
                <a:lnTo>
                  <a:pt x="0" y="83344"/>
                </a:lnTo>
                <a:cubicBezTo>
                  <a:pt x="0" y="37319"/>
                  <a:pt x="37319" y="0"/>
                  <a:pt x="83344" y="0"/>
                </a:cubicBezTo>
                <a:cubicBezTo>
                  <a:pt x="129369" y="0"/>
                  <a:pt x="166688" y="37319"/>
                  <a:pt x="166688" y="83344"/>
                </a:cubicBezTo>
                <a:lnTo>
                  <a:pt x="166688" y="145889"/>
                </a:lnTo>
                <a:cubicBezTo>
                  <a:pt x="166688" y="170557"/>
                  <a:pt x="146670" y="190537"/>
                  <a:pt x="122002" y="190537"/>
                </a:cubicBezTo>
                <a:lnTo>
                  <a:pt x="89297" y="190500"/>
                </a:lnTo>
                <a:lnTo>
                  <a:pt x="77391" y="190500"/>
                </a:lnTo>
                <a:cubicBezTo>
                  <a:pt x="67531" y="190500"/>
                  <a:pt x="59531" y="182500"/>
                  <a:pt x="59531" y="172641"/>
                </a:cubicBezTo>
                <a:cubicBezTo>
                  <a:pt x="59531" y="162781"/>
                  <a:pt x="67531" y="154781"/>
                  <a:pt x="77391" y="154781"/>
                </a:cubicBezTo>
                <a:lnTo>
                  <a:pt x="89297" y="154781"/>
                </a:lnTo>
                <a:cubicBezTo>
                  <a:pt x="99157" y="154781"/>
                  <a:pt x="107156" y="162781"/>
                  <a:pt x="107156" y="172641"/>
                </a:cubicBezTo>
                <a:lnTo>
                  <a:pt x="107156" y="172641"/>
                </a:lnTo>
                <a:lnTo>
                  <a:pt x="122039" y="172641"/>
                </a:lnTo>
                <a:cubicBezTo>
                  <a:pt x="136847" y="172641"/>
                  <a:pt x="148828" y="160660"/>
                  <a:pt x="148828" y="145852"/>
                </a:cubicBezTo>
                <a:lnTo>
                  <a:pt x="148828" y="138075"/>
                </a:lnTo>
                <a:cubicBezTo>
                  <a:pt x="143582" y="141126"/>
                  <a:pt x="137480" y="142838"/>
                  <a:pt x="130969" y="142838"/>
                </a:cubicBezTo>
                <a:lnTo>
                  <a:pt x="125016" y="142838"/>
                </a:lnTo>
                <a:cubicBezTo>
                  <a:pt x="115156" y="142838"/>
                  <a:pt x="107156" y="134838"/>
                  <a:pt x="107156" y="124978"/>
                </a:cubicBezTo>
                <a:lnTo>
                  <a:pt x="107156" y="89260"/>
                </a:lnTo>
                <a:cubicBezTo>
                  <a:pt x="107156" y="79400"/>
                  <a:pt x="115156" y="71400"/>
                  <a:pt x="125016" y="71400"/>
                </a:cubicBezTo>
                <a:lnTo>
                  <a:pt x="130969" y="71400"/>
                </a:lnTo>
                <a:cubicBezTo>
                  <a:pt x="134838" y="71400"/>
                  <a:pt x="138522" y="71996"/>
                  <a:pt x="142019" y="73149"/>
                </a:cubicBezTo>
                <a:cubicBezTo>
                  <a:pt x="137182" y="45132"/>
                  <a:pt x="112775" y="23775"/>
                  <a:pt x="83344" y="237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524000"/>
            <a:ext cx="508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Support Excellence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0600" y="1866900"/>
            <a:ext cx="5067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support is a critical component of user experience, directly impacting brand loyalty and customer retention rates across industries.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25527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980B9"/>
          </a:solidFill>
          <a:ln/>
        </p:spPr>
      </p:sp>
      <p:sp>
        <p:nvSpPr>
          <p:cNvPr id="10" name="Shape 8"/>
          <p:cNvSpPr/>
          <p:nvPr/>
        </p:nvSpPr>
        <p:spPr>
          <a:xfrm>
            <a:off x="502444" y="26860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2552700"/>
            <a:ext cx="508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 Quality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0600" y="2895600"/>
            <a:ext cx="5067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quality of communication between support agents and customers significantly affects overall satisfaction and issue resolution effectiveness.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0300" y="15240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C3E50"/>
          </a:solidFill>
          <a:ln/>
        </p:spPr>
      </p:sp>
      <p:sp>
        <p:nvSpPr>
          <p:cNvPr id="14" name="Shape 12"/>
          <p:cNvSpPr/>
          <p:nvPr/>
        </p:nvSpPr>
        <p:spPr>
          <a:xfrm>
            <a:off x="6343650" y="1657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9669" y="32407"/>
                </a:moveTo>
                <a:lnTo>
                  <a:pt x="95250" y="40109"/>
                </a:lnTo>
                <a:lnTo>
                  <a:pt x="100831" y="32407"/>
                </a:lnTo>
                <a:cubicBezTo>
                  <a:pt x="110133" y="19534"/>
                  <a:pt x="125090" y="11906"/>
                  <a:pt x="140977" y="11906"/>
                </a:cubicBezTo>
                <a:cubicBezTo>
                  <a:pt x="168325" y="11906"/>
                  <a:pt x="190500" y="34082"/>
                  <a:pt x="190500" y="61429"/>
                </a:cubicBezTo>
                <a:lnTo>
                  <a:pt x="190500" y="62396"/>
                </a:lnTo>
                <a:cubicBezTo>
                  <a:pt x="190500" y="104142"/>
                  <a:pt x="138447" y="152623"/>
                  <a:pt x="111286" y="173348"/>
                </a:cubicBezTo>
                <a:cubicBezTo>
                  <a:pt x="106673" y="176845"/>
                  <a:pt x="101017" y="178594"/>
                  <a:pt x="95250" y="178594"/>
                </a:cubicBezTo>
                <a:cubicBezTo>
                  <a:pt x="89483" y="178594"/>
                  <a:pt x="83790" y="176882"/>
                  <a:pt x="79214" y="173348"/>
                </a:cubicBezTo>
                <a:cubicBezTo>
                  <a:pt x="52053" y="152623"/>
                  <a:pt x="0" y="104142"/>
                  <a:pt x="0" y="62396"/>
                </a:cubicBezTo>
                <a:lnTo>
                  <a:pt x="0" y="61429"/>
                </a:lnTo>
                <a:cubicBezTo>
                  <a:pt x="0" y="34082"/>
                  <a:pt x="22175" y="11906"/>
                  <a:pt x="49523" y="11906"/>
                </a:cubicBezTo>
                <a:cubicBezTo>
                  <a:pt x="65410" y="11906"/>
                  <a:pt x="80367" y="19534"/>
                  <a:pt x="89669" y="3240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19900" y="1524000"/>
            <a:ext cx="508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Emotional Intelligence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19900" y="1866900"/>
            <a:ext cx="5067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and appropriately responding to customer emotions is essential for building trust and delivering satisfactory support experiences.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0300" y="25527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C3E50"/>
          </a:solidFill>
          <a:ln/>
        </p:spPr>
      </p:sp>
      <p:sp>
        <p:nvSpPr>
          <p:cNvPr id="18" name="Shape 16"/>
          <p:cNvSpPr/>
          <p:nvPr/>
        </p:nvSpPr>
        <p:spPr>
          <a:xfrm>
            <a:off x="6319838" y="26860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819900" y="2552700"/>
            <a:ext cx="508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Assistance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19900" y="2895600"/>
            <a:ext cx="50673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 can assist human agents by analyzing sentiment, suggesting appropriate responses, and maintaining consistency in communication.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0050" y="3943350"/>
            <a:ext cx="11410950" cy="876300"/>
          </a:xfrm>
          <a:custGeom>
            <a:avLst/>
            <a:gdLst/>
            <a:ahLst/>
            <a:cxnLst/>
            <a:rect l="l" t="t" r="r" b="b"/>
            <a:pathLst>
              <a:path w="11410950" h="876300">
                <a:moveTo>
                  <a:pt x="3810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800100"/>
                </a:lnTo>
                <a:cubicBezTo>
                  <a:pt x="11410950" y="842156"/>
                  <a:pt x="11376806" y="876300"/>
                  <a:pt x="11334750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00050" y="394335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23" name="Text 21"/>
          <p:cNvSpPr/>
          <p:nvPr/>
        </p:nvSpPr>
        <p:spPr>
          <a:xfrm>
            <a:off x="609600" y="4133850"/>
            <a:ext cx="11087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Goal:</a:t>
            </a: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Develop an intelligent system that enhances customer support by providing emotion-aware response suggestions, enabling agents to deliver more empathetic and effective communication.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2980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in Customer Support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prstGeom prst="roundRect">
            <a:avLst>
              <a:gd name="adj" fmla="val 0"/>
            </a:avLst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466850"/>
            <a:ext cx="5619750" cy="1638300"/>
          </a:xfrm>
          <a:custGeom>
            <a:avLst/>
            <a:gdLst/>
            <a:ahLst/>
            <a:cxnLst/>
            <a:rect l="l" t="t" r="r" b="b"/>
            <a:pathLst>
              <a:path w="5619750" h="16383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1562100"/>
                </a:lnTo>
                <a:cubicBezTo>
                  <a:pt x="5619750" y="1604156"/>
                  <a:pt x="5585606" y="1638300"/>
                  <a:pt x="5543550" y="1638300"/>
                </a:cubicBezTo>
                <a:lnTo>
                  <a:pt x="76200" y="1638300"/>
                </a:lnTo>
                <a:cubicBezTo>
                  <a:pt x="34144" y="1638300"/>
                  <a:pt x="0" y="1604156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4668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6764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8" name="Text 6"/>
          <p:cNvSpPr/>
          <p:nvPr/>
        </p:nvSpPr>
        <p:spPr>
          <a:xfrm>
            <a:off x="528638" y="16764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1733550"/>
            <a:ext cx="2705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Emotional Customer Messages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171700"/>
            <a:ext cx="5314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Customers frequently express strong emotions including frustration, anger, and urgency when contacting support. These emotional states require careful handling that many agents struggle to address effectively.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1250" y="1466850"/>
            <a:ext cx="5619750" cy="1638300"/>
          </a:xfrm>
          <a:custGeom>
            <a:avLst/>
            <a:gdLst/>
            <a:ahLst/>
            <a:cxnLst/>
            <a:rect l="l" t="t" r="r" b="b"/>
            <a:pathLst>
              <a:path w="5619750" h="16383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1562100"/>
                </a:lnTo>
                <a:cubicBezTo>
                  <a:pt x="5619750" y="1604156"/>
                  <a:pt x="5585606" y="1638300"/>
                  <a:pt x="5543550" y="1638300"/>
                </a:cubicBezTo>
                <a:lnTo>
                  <a:pt x="76200" y="1638300"/>
                </a:lnTo>
                <a:cubicBezTo>
                  <a:pt x="34144" y="1638300"/>
                  <a:pt x="0" y="1604156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191250" y="14668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3" name="Shape 11"/>
          <p:cNvSpPr/>
          <p:nvPr/>
        </p:nvSpPr>
        <p:spPr>
          <a:xfrm>
            <a:off x="6381750" y="16764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/>
        </p:spPr>
      </p:sp>
      <p:sp>
        <p:nvSpPr>
          <p:cNvPr id="14" name="Text 12"/>
          <p:cNvSpPr/>
          <p:nvPr/>
        </p:nvSpPr>
        <p:spPr>
          <a:xfrm>
            <a:off x="6338888" y="16764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77050" y="1733550"/>
            <a:ext cx="208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Inconsistent Responses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81750" y="2171700"/>
            <a:ext cx="5314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response composition leads to inconsistency in tone, quality, and adherence to brand guidelines. Different agents may handle similar situations in vastly different ways.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" y="3314700"/>
            <a:ext cx="5619750" cy="1638300"/>
          </a:xfrm>
          <a:custGeom>
            <a:avLst/>
            <a:gdLst/>
            <a:ahLst/>
            <a:cxnLst/>
            <a:rect l="l" t="t" r="r" b="b"/>
            <a:pathLst>
              <a:path w="5619750" h="16383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1562100"/>
                </a:lnTo>
                <a:cubicBezTo>
                  <a:pt x="5619750" y="1604156"/>
                  <a:pt x="5585606" y="1638300"/>
                  <a:pt x="5543550" y="1638300"/>
                </a:cubicBezTo>
                <a:lnTo>
                  <a:pt x="76200" y="1638300"/>
                </a:lnTo>
                <a:cubicBezTo>
                  <a:pt x="34144" y="1638300"/>
                  <a:pt x="0" y="1604156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81000" y="331470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19" name="Shape 17"/>
          <p:cNvSpPr/>
          <p:nvPr/>
        </p:nvSpPr>
        <p:spPr>
          <a:xfrm>
            <a:off x="571500" y="35242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20" name="Text 18"/>
          <p:cNvSpPr/>
          <p:nvPr/>
        </p:nvSpPr>
        <p:spPr>
          <a:xfrm>
            <a:off x="528638" y="352425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66800" y="3581400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Lack of Empathy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1500" y="4019550"/>
            <a:ext cx="5314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 pressure to meet response time targets, agents may prioritize speed over empathy, resulting in responses that feel robotic or dismissive of customer concerns.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1250" y="3314700"/>
            <a:ext cx="5619750" cy="1638300"/>
          </a:xfrm>
          <a:custGeom>
            <a:avLst/>
            <a:gdLst/>
            <a:ahLst/>
            <a:cxnLst/>
            <a:rect l="l" t="t" r="r" b="b"/>
            <a:pathLst>
              <a:path w="5619750" h="16383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1562100"/>
                </a:lnTo>
                <a:cubicBezTo>
                  <a:pt x="5619750" y="1604156"/>
                  <a:pt x="5585606" y="1638300"/>
                  <a:pt x="5543550" y="1638300"/>
                </a:cubicBezTo>
                <a:lnTo>
                  <a:pt x="76200" y="1638300"/>
                </a:lnTo>
                <a:cubicBezTo>
                  <a:pt x="34144" y="1638300"/>
                  <a:pt x="0" y="1604156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191250" y="331470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5" name="Shape 23"/>
          <p:cNvSpPr/>
          <p:nvPr/>
        </p:nvSpPr>
        <p:spPr>
          <a:xfrm>
            <a:off x="6381750" y="35242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/>
        </p:spPr>
      </p:sp>
      <p:sp>
        <p:nvSpPr>
          <p:cNvPr id="26" name="Text 24"/>
          <p:cNvSpPr/>
          <p:nvPr/>
        </p:nvSpPr>
        <p:spPr>
          <a:xfrm>
            <a:off x="6338888" y="352425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77050" y="3581400"/>
            <a:ext cx="120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Trust Erosion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81750" y="4019550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Poorly crafted responses can damage customer trust, escalate conflicts, and lead to negative brand perception, customer churn, and public complaints.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" y="5181600"/>
            <a:ext cx="11430000" cy="876300"/>
          </a:xfrm>
          <a:prstGeom prst="roundRect">
            <a:avLst>
              <a:gd name="adj" fmla="val 8696"/>
            </a:avLst>
          </a:prstGeom>
          <a:solidFill>
            <a:srgbClr val="2C3E50"/>
          </a:solidFill>
          <a:ln/>
        </p:spPr>
      </p:sp>
      <p:sp>
        <p:nvSpPr>
          <p:cNvPr id="30" name="Shape 28"/>
          <p:cNvSpPr/>
          <p:nvPr/>
        </p:nvSpPr>
        <p:spPr>
          <a:xfrm>
            <a:off x="590550" y="5410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819150" y="5372100"/>
            <a:ext cx="10877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Impact:</a:t>
            </a: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These challenges result in decreased customer satisfaction, increased resolution times, higher agent burnout rates, and significant business losses for organizations.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2980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Goals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prstGeom prst="roundRect">
            <a:avLst>
              <a:gd name="adj" fmla="val 0"/>
            </a:avLst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524000"/>
            <a:ext cx="5581650" cy="1543050"/>
          </a:xfrm>
          <a:custGeom>
            <a:avLst/>
            <a:gdLst/>
            <a:ahLst/>
            <a:cxnLst/>
            <a:rect l="l" t="t" r="r" b="b"/>
            <a:pathLst>
              <a:path w="5581650" h="154305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466850"/>
                </a:lnTo>
                <a:cubicBezTo>
                  <a:pt x="5581650" y="1508906"/>
                  <a:pt x="5547506" y="1543050"/>
                  <a:pt x="5505450" y="1543050"/>
                </a:cubicBez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524000"/>
            <a:ext cx="38100" cy="1543050"/>
          </a:xfrm>
          <a:custGeom>
            <a:avLst/>
            <a:gdLst/>
            <a:ahLst/>
            <a:cxnLst/>
            <a:rect l="l" t="t" r="r" b="b"/>
            <a:pathLst>
              <a:path w="38100" h="1543050">
                <a:moveTo>
                  <a:pt x="3810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75260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2980B9"/>
          </a:solidFill>
          <a:ln/>
        </p:spPr>
      </p:sp>
      <p:sp>
        <p:nvSpPr>
          <p:cNvPr id="8" name="Shape 6"/>
          <p:cNvSpPr/>
          <p:nvPr/>
        </p:nvSpPr>
        <p:spPr>
          <a:xfrm>
            <a:off x="785813" y="1905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28779" y="107156"/>
                </a:moveTo>
                <a:lnTo>
                  <a:pt x="150197" y="107156"/>
                </a:lnTo>
                <a:cubicBezTo>
                  <a:pt x="142295" y="107156"/>
                  <a:pt x="135910" y="100772"/>
                  <a:pt x="135910" y="92869"/>
                </a:cubicBezTo>
                <a:lnTo>
                  <a:pt x="135910" y="14288"/>
                </a:lnTo>
                <a:cubicBezTo>
                  <a:pt x="135910" y="6385"/>
                  <a:pt x="142339" y="-89"/>
                  <a:pt x="150153" y="938"/>
                </a:cubicBezTo>
                <a:cubicBezTo>
                  <a:pt x="197927" y="7278"/>
                  <a:pt x="235788" y="45140"/>
                  <a:pt x="242128" y="92913"/>
                </a:cubicBezTo>
                <a:cubicBezTo>
                  <a:pt x="243155" y="100727"/>
                  <a:pt x="236681" y="107156"/>
                  <a:pt x="228779" y="107156"/>
                </a:cubicBezTo>
                <a:close/>
                <a:moveTo>
                  <a:pt x="99387" y="16609"/>
                </a:moveTo>
                <a:cubicBezTo>
                  <a:pt x="107469" y="14913"/>
                  <a:pt x="114479" y="21521"/>
                  <a:pt x="114479" y="29781"/>
                </a:cubicBezTo>
                <a:lnTo>
                  <a:pt x="114479" y="117872"/>
                </a:lnTo>
                <a:cubicBezTo>
                  <a:pt x="114479" y="120372"/>
                  <a:pt x="115372" y="122783"/>
                  <a:pt x="116934" y="124703"/>
                </a:cubicBezTo>
                <a:lnTo>
                  <a:pt x="175915" y="195873"/>
                </a:lnTo>
                <a:cubicBezTo>
                  <a:pt x="181139" y="202168"/>
                  <a:pt x="180023" y="211678"/>
                  <a:pt x="172834" y="215563"/>
                </a:cubicBezTo>
                <a:cubicBezTo>
                  <a:pt x="157609" y="223867"/>
                  <a:pt x="140151" y="228600"/>
                  <a:pt x="121622" y="228600"/>
                </a:cubicBezTo>
                <a:cubicBezTo>
                  <a:pt x="62463" y="228600"/>
                  <a:pt x="14466" y="180603"/>
                  <a:pt x="14466" y="121444"/>
                </a:cubicBezTo>
                <a:cubicBezTo>
                  <a:pt x="14466" y="69875"/>
                  <a:pt x="50855" y="26834"/>
                  <a:pt x="99387" y="16609"/>
                </a:cubicBezTo>
                <a:close/>
                <a:moveTo>
                  <a:pt x="213330" y="128588"/>
                </a:moveTo>
                <a:lnTo>
                  <a:pt x="241905" y="128588"/>
                </a:lnTo>
                <a:cubicBezTo>
                  <a:pt x="250165" y="128588"/>
                  <a:pt x="256773" y="135597"/>
                  <a:pt x="255077" y="143679"/>
                </a:cubicBezTo>
                <a:cubicBezTo>
                  <a:pt x="250522" y="165289"/>
                  <a:pt x="239450" y="184487"/>
                  <a:pt x="224001" y="199132"/>
                </a:cubicBezTo>
                <a:cubicBezTo>
                  <a:pt x="218509" y="204356"/>
                  <a:pt x="209892" y="203240"/>
                  <a:pt x="205070" y="197391"/>
                </a:cubicBezTo>
                <a:lnTo>
                  <a:pt x="167387" y="151983"/>
                </a:lnTo>
                <a:cubicBezTo>
                  <a:pt x="159663" y="142652"/>
                  <a:pt x="166315" y="128588"/>
                  <a:pt x="178371" y="128588"/>
                </a:cubicBezTo>
                <a:lnTo>
                  <a:pt x="213286" y="12858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1752600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Sentiment Identification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095500"/>
            <a:ext cx="4495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Accurately classify customer messages into positive, neutral, and negative sentiment categories to understand the overall emotional tone.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295650"/>
            <a:ext cx="5581650" cy="1543050"/>
          </a:xfrm>
          <a:custGeom>
            <a:avLst/>
            <a:gdLst/>
            <a:ahLst/>
            <a:cxnLst/>
            <a:rect l="l" t="t" r="r" b="b"/>
            <a:pathLst>
              <a:path w="5581650" h="154305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466850"/>
                </a:lnTo>
                <a:cubicBezTo>
                  <a:pt x="5581650" y="1508906"/>
                  <a:pt x="5547506" y="1543050"/>
                  <a:pt x="5505450" y="1543050"/>
                </a:cubicBez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0050" y="3295650"/>
            <a:ext cx="38100" cy="1543050"/>
          </a:xfrm>
          <a:custGeom>
            <a:avLst/>
            <a:gdLst/>
            <a:ahLst/>
            <a:cxnLst/>
            <a:rect l="l" t="t" r="r" b="b"/>
            <a:pathLst>
              <a:path w="38100" h="1543050">
                <a:moveTo>
                  <a:pt x="3810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" y="352425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2980B9"/>
          </a:solidFill>
          <a:ln/>
        </p:spPr>
      </p:sp>
      <p:sp>
        <p:nvSpPr>
          <p:cNvPr id="14" name="Shape 12"/>
          <p:cNvSpPr/>
          <p:nvPr/>
        </p:nvSpPr>
        <p:spPr>
          <a:xfrm>
            <a:off x="800100" y="3676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3524250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 Detection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33500" y="3867150"/>
            <a:ext cx="4495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 specific emotional states such as anger, frustration, urgency, confusion, and satisfaction within customer communications.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29350" y="1524000"/>
            <a:ext cx="5581650" cy="1295400"/>
          </a:xfrm>
          <a:custGeom>
            <a:avLst/>
            <a:gdLst/>
            <a:ahLst/>
            <a:cxnLst/>
            <a:rect l="l" t="t" r="r" b="b"/>
            <a:pathLst>
              <a:path w="5581650" h="129540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219200"/>
                </a:lnTo>
                <a:cubicBezTo>
                  <a:pt x="5581650" y="1261256"/>
                  <a:pt x="5547506" y="1295400"/>
                  <a:pt x="5505450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29350" y="15240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7000" y="175260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2C3E50"/>
          </a:solidFill>
          <a:ln/>
        </p:spPr>
      </p:sp>
      <p:sp>
        <p:nvSpPr>
          <p:cNvPr id="20" name="Shape 18"/>
          <p:cNvSpPr/>
          <p:nvPr/>
        </p:nvSpPr>
        <p:spPr>
          <a:xfrm>
            <a:off x="6629400" y="1905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66762" y="12100"/>
                </a:moveTo>
                <a:cubicBezTo>
                  <a:pt x="173459" y="4420"/>
                  <a:pt x="183148" y="0"/>
                  <a:pt x="193372" y="0"/>
                </a:cubicBezTo>
                <a:cubicBezTo>
                  <a:pt x="212839" y="0"/>
                  <a:pt x="228645" y="15806"/>
                  <a:pt x="228645" y="35272"/>
                </a:cubicBezTo>
                <a:cubicBezTo>
                  <a:pt x="228645" y="45452"/>
                  <a:pt x="224224" y="55185"/>
                  <a:pt x="216545" y="61883"/>
                </a:cubicBezTo>
                <a:lnTo>
                  <a:pt x="126668" y="140107"/>
                </a:lnTo>
                <a:lnTo>
                  <a:pt x="121890" y="135285"/>
                </a:lnTo>
                <a:lnTo>
                  <a:pt x="93315" y="106710"/>
                </a:lnTo>
                <a:lnTo>
                  <a:pt x="88493" y="101932"/>
                </a:lnTo>
                <a:lnTo>
                  <a:pt x="166762" y="12100"/>
                </a:lnTo>
                <a:close/>
                <a:moveTo>
                  <a:pt x="71929" y="115639"/>
                </a:moveTo>
                <a:cubicBezTo>
                  <a:pt x="72330" y="116086"/>
                  <a:pt x="83939" y="127695"/>
                  <a:pt x="106710" y="150465"/>
                </a:cubicBezTo>
                <a:lnTo>
                  <a:pt x="112916" y="156671"/>
                </a:lnTo>
                <a:lnTo>
                  <a:pt x="105281" y="189801"/>
                </a:lnTo>
                <a:cubicBezTo>
                  <a:pt x="103540" y="197435"/>
                  <a:pt x="97735" y="203508"/>
                  <a:pt x="90190" y="205606"/>
                </a:cubicBezTo>
                <a:lnTo>
                  <a:pt x="14377" y="226814"/>
                </a:lnTo>
                <a:lnTo>
                  <a:pt x="55587" y="185604"/>
                </a:lnTo>
                <a:cubicBezTo>
                  <a:pt x="56123" y="185648"/>
                  <a:pt x="56614" y="185693"/>
                  <a:pt x="57150" y="185693"/>
                </a:cubicBezTo>
                <a:cubicBezTo>
                  <a:pt x="65053" y="185693"/>
                  <a:pt x="71438" y="179308"/>
                  <a:pt x="71438" y="171405"/>
                </a:cubicBezTo>
                <a:cubicBezTo>
                  <a:pt x="71438" y="163503"/>
                  <a:pt x="65053" y="157118"/>
                  <a:pt x="57150" y="157118"/>
                </a:cubicBezTo>
                <a:cubicBezTo>
                  <a:pt x="49247" y="157118"/>
                  <a:pt x="42863" y="163503"/>
                  <a:pt x="42863" y="171405"/>
                </a:cubicBezTo>
                <a:cubicBezTo>
                  <a:pt x="42863" y="171941"/>
                  <a:pt x="42907" y="172477"/>
                  <a:pt x="42952" y="172968"/>
                </a:cubicBezTo>
                <a:lnTo>
                  <a:pt x="1741" y="214223"/>
                </a:lnTo>
                <a:lnTo>
                  <a:pt x="22994" y="138410"/>
                </a:lnTo>
                <a:cubicBezTo>
                  <a:pt x="25092" y="130865"/>
                  <a:pt x="31165" y="125060"/>
                  <a:pt x="38799" y="123319"/>
                </a:cubicBezTo>
                <a:lnTo>
                  <a:pt x="71929" y="11563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162800" y="1752600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Empathetic Response Generation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62800" y="2095500"/>
            <a:ext cx="4495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contextually appropriate, emotionally aware responses that demonstrate understanding and provide effective solutions.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3048000"/>
            <a:ext cx="5581650" cy="1295400"/>
          </a:xfrm>
          <a:custGeom>
            <a:avLst/>
            <a:gdLst/>
            <a:ahLst/>
            <a:cxnLst/>
            <a:rect l="l" t="t" r="r" b="b"/>
            <a:pathLst>
              <a:path w="5581650" h="129540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219200"/>
                </a:lnTo>
                <a:cubicBezTo>
                  <a:pt x="5581650" y="1261256"/>
                  <a:pt x="5547506" y="1295400"/>
                  <a:pt x="5505450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29350" y="30480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7000" y="327660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2C3E50"/>
          </a:solidFill>
          <a:ln/>
        </p:spPr>
      </p:sp>
      <p:sp>
        <p:nvSpPr>
          <p:cNvPr id="26" name="Shape 24"/>
          <p:cNvSpPr/>
          <p:nvPr/>
        </p:nvSpPr>
        <p:spPr>
          <a:xfrm>
            <a:off x="6629400" y="3429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162800" y="3276600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Brand Consistency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62800" y="3619500"/>
            <a:ext cx="4495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Maintain consistent tone, language, and messaging aligned with brand communication guidelines across all customer interactions.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35555" y="5200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30" name="Text 28"/>
          <p:cNvSpPr/>
          <p:nvPr/>
        </p:nvSpPr>
        <p:spPr>
          <a:xfrm>
            <a:off x="4626055" y="5143500"/>
            <a:ext cx="638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94973" y="5200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/>
        </p:spPr>
      </p:sp>
      <p:sp>
        <p:nvSpPr>
          <p:cNvPr id="32" name="Text 30"/>
          <p:cNvSpPr/>
          <p:nvPr/>
        </p:nvSpPr>
        <p:spPr>
          <a:xfrm>
            <a:off x="5685473" y="5143500"/>
            <a:ext cx="81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729651" y="5200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7F8C8D"/>
          </a:solidFill>
          <a:ln/>
        </p:spPr>
      </p:sp>
      <p:sp>
        <p:nvSpPr>
          <p:cNvPr id="34" name="Text 32"/>
          <p:cNvSpPr/>
          <p:nvPr/>
        </p:nvSpPr>
        <p:spPr>
          <a:xfrm>
            <a:off x="6920151" y="51435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Consistency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2980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Driving Factors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prstGeom prst="roundRect">
            <a:avLst>
              <a:gd name="adj" fmla="val 0"/>
            </a:avLst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543050"/>
            <a:ext cx="2714625" cy="2781300"/>
          </a:xfrm>
          <a:custGeom>
            <a:avLst/>
            <a:gdLst/>
            <a:ahLst/>
            <a:cxnLst/>
            <a:rect l="l" t="t" r="r" b="b"/>
            <a:pathLst>
              <a:path w="2714625" h="278130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2705100"/>
                </a:lnTo>
                <a:cubicBezTo>
                  <a:pt x="2714625" y="2747156"/>
                  <a:pt x="2680481" y="2781300"/>
                  <a:pt x="2638425" y="2781300"/>
                </a:cubicBezTo>
                <a:lnTo>
                  <a:pt x="76200" y="2781300"/>
                </a:lnTo>
                <a:cubicBezTo>
                  <a:pt x="34144" y="2781300"/>
                  <a:pt x="0" y="2747156"/>
                  <a:pt x="0" y="2705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543050"/>
            <a:ext cx="2714625" cy="38100"/>
          </a:xfrm>
          <a:custGeom>
            <a:avLst/>
            <a:gdLst/>
            <a:ahLst/>
            <a:cxnLst/>
            <a:rect l="l" t="t" r="r" b="b"/>
            <a:pathLst>
              <a:path w="2714625" h="3810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7" name="Shape 5"/>
          <p:cNvSpPr/>
          <p:nvPr/>
        </p:nvSpPr>
        <p:spPr>
          <a:xfrm>
            <a:off x="1433513" y="1752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8" name="Shape 6"/>
          <p:cNvSpPr/>
          <p:nvPr/>
        </p:nvSpPr>
        <p:spPr>
          <a:xfrm>
            <a:off x="1624013" y="1943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28638" y="2514600"/>
            <a:ext cx="241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 Efficiency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3400" y="2895600"/>
            <a:ext cx="24098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Streamline support team workflows by providing intelligent response suggestions that reduce cognitive load and decision-making time.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86125" y="1543050"/>
            <a:ext cx="2714625" cy="2781300"/>
          </a:xfrm>
          <a:custGeom>
            <a:avLst/>
            <a:gdLst/>
            <a:ahLst/>
            <a:cxnLst/>
            <a:rect l="l" t="t" r="r" b="b"/>
            <a:pathLst>
              <a:path w="2714625" h="278130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2705100"/>
                </a:lnTo>
                <a:cubicBezTo>
                  <a:pt x="2714625" y="2747156"/>
                  <a:pt x="2680481" y="2781300"/>
                  <a:pt x="2638425" y="2781300"/>
                </a:cubicBezTo>
                <a:lnTo>
                  <a:pt x="76200" y="2781300"/>
                </a:lnTo>
                <a:cubicBezTo>
                  <a:pt x="34144" y="2781300"/>
                  <a:pt x="0" y="2747156"/>
                  <a:pt x="0" y="2705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286125" y="1543050"/>
            <a:ext cx="2714625" cy="38100"/>
          </a:xfrm>
          <a:custGeom>
            <a:avLst/>
            <a:gdLst/>
            <a:ahLst/>
            <a:cxnLst/>
            <a:rect l="l" t="t" r="r" b="b"/>
            <a:pathLst>
              <a:path w="2714625" h="3810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38638" y="1752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29138" y="1943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433763" y="2514600"/>
            <a:ext cx="241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Response Time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38525" y="2895600"/>
            <a:ext cx="24098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 faster response composition through AI-generated templates and real-time sentiment analysis for immediate action.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1250" y="1543050"/>
            <a:ext cx="2714625" cy="2781300"/>
          </a:xfrm>
          <a:custGeom>
            <a:avLst/>
            <a:gdLst/>
            <a:ahLst/>
            <a:cxnLst/>
            <a:rect l="l" t="t" r="r" b="b"/>
            <a:pathLst>
              <a:path w="2714625" h="278130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2705100"/>
                </a:lnTo>
                <a:cubicBezTo>
                  <a:pt x="2714625" y="2747156"/>
                  <a:pt x="2680481" y="2781300"/>
                  <a:pt x="2638425" y="2781300"/>
                </a:cubicBezTo>
                <a:lnTo>
                  <a:pt x="76200" y="2781300"/>
                </a:lnTo>
                <a:cubicBezTo>
                  <a:pt x="34144" y="2781300"/>
                  <a:pt x="0" y="2747156"/>
                  <a:pt x="0" y="2705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191250" y="1543050"/>
            <a:ext cx="2714625" cy="38100"/>
          </a:xfrm>
          <a:custGeom>
            <a:avLst/>
            <a:gdLst/>
            <a:ahLst/>
            <a:cxnLst/>
            <a:rect l="l" t="t" r="r" b="b"/>
            <a:pathLst>
              <a:path w="2714625" h="3810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19" name="Shape 17"/>
          <p:cNvSpPr/>
          <p:nvPr/>
        </p:nvSpPr>
        <p:spPr>
          <a:xfrm>
            <a:off x="7243763" y="1752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20" name="Shape 18"/>
          <p:cNvSpPr/>
          <p:nvPr/>
        </p:nvSpPr>
        <p:spPr>
          <a:xfrm>
            <a:off x="7434263" y="1943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3849" y="143723"/>
                </a:moveTo>
                <a:cubicBezTo>
                  <a:pt x="82957" y="156225"/>
                  <a:pt x="97691" y="164306"/>
                  <a:pt x="114300" y="164306"/>
                </a:cubicBezTo>
                <a:cubicBezTo>
                  <a:pt x="130909" y="164306"/>
                  <a:pt x="145643" y="156225"/>
                  <a:pt x="154751" y="143723"/>
                </a:cubicBezTo>
                <a:cubicBezTo>
                  <a:pt x="158234" y="138946"/>
                  <a:pt x="164931" y="137874"/>
                  <a:pt x="169709" y="141357"/>
                </a:cubicBezTo>
                <a:cubicBezTo>
                  <a:pt x="174486" y="144840"/>
                  <a:pt x="175558" y="151537"/>
                  <a:pt x="172075" y="156314"/>
                </a:cubicBezTo>
                <a:cubicBezTo>
                  <a:pt x="159082" y="174129"/>
                  <a:pt x="138053" y="185738"/>
                  <a:pt x="114300" y="185738"/>
                </a:cubicBezTo>
                <a:cubicBezTo>
                  <a:pt x="90547" y="185738"/>
                  <a:pt x="69518" y="174129"/>
                  <a:pt x="56525" y="156314"/>
                </a:cubicBezTo>
                <a:cubicBezTo>
                  <a:pt x="53042" y="151537"/>
                  <a:pt x="54114" y="144840"/>
                  <a:pt x="58891" y="141357"/>
                </a:cubicBezTo>
                <a:cubicBezTo>
                  <a:pt x="63669" y="137874"/>
                  <a:pt x="70366" y="138946"/>
                  <a:pt x="73849" y="143723"/>
                </a:cubicBezTo>
                <a:close/>
                <a:moveTo>
                  <a:pt x="64294" y="92869"/>
                </a:moveTo>
                <a:cubicBezTo>
                  <a:pt x="64294" y="84983"/>
                  <a:pt x="70696" y="78581"/>
                  <a:pt x="78581" y="78581"/>
                </a:cubicBezTo>
                <a:cubicBezTo>
                  <a:pt x="86467" y="78581"/>
                  <a:pt x="92869" y="84983"/>
                  <a:pt x="92869" y="92869"/>
                </a:cubicBezTo>
                <a:cubicBezTo>
                  <a:pt x="92869" y="100754"/>
                  <a:pt x="86467" y="107156"/>
                  <a:pt x="78581" y="107156"/>
                </a:cubicBezTo>
                <a:cubicBezTo>
                  <a:pt x="70696" y="107156"/>
                  <a:pt x="64294" y="100754"/>
                  <a:pt x="64294" y="92869"/>
                </a:cubicBezTo>
                <a:close/>
                <a:moveTo>
                  <a:pt x="150019" y="78581"/>
                </a:moveTo>
                <a:cubicBezTo>
                  <a:pt x="157904" y="78581"/>
                  <a:pt x="164306" y="84983"/>
                  <a:pt x="164306" y="92869"/>
                </a:cubicBezTo>
                <a:cubicBezTo>
                  <a:pt x="164306" y="100754"/>
                  <a:pt x="157904" y="107156"/>
                  <a:pt x="150019" y="107156"/>
                </a:cubicBezTo>
                <a:cubicBezTo>
                  <a:pt x="142133" y="107156"/>
                  <a:pt x="135731" y="100754"/>
                  <a:pt x="135731" y="92869"/>
                </a:cubicBezTo>
                <a:cubicBezTo>
                  <a:pt x="135731" y="84983"/>
                  <a:pt x="142133" y="78581"/>
                  <a:pt x="150019" y="785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338888" y="2514600"/>
            <a:ext cx="241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 Satisfaction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43650" y="2895600"/>
            <a:ext cx="24098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 more empathetic and personalized responses that address both the emotional and practical needs of customers.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096375" y="1543050"/>
            <a:ext cx="2714625" cy="2781300"/>
          </a:xfrm>
          <a:custGeom>
            <a:avLst/>
            <a:gdLst/>
            <a:ahLst/>
            <a:cxnLst/>
            <a:rect l="l" t="t" r="r" b="b"/>
            <a:pathLst>
              <a:path w="2714625" h="278130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2705100"/>
                </a:lnTo>
                <a:cubicBezTo>
                  <a:pt x="2714625" y="2747156"/>
                  <a:pt x="2680481" y="2781300"/>
                  <a:pt x="2638425" y="2781300"/>
                </a:cubicBezTo>
                <a:lnTo>
                  <a:pt x="76200" y="2781300"/>
                </a:lnTo>
                <a:cubicBezTo>
                  <a:pt x="34144" y="2781300"/>
                  <a:pt x="0" y="2747156"/>
                  <a:pt x="0" y="2705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096375" y="1543050"/>
            <a:ext cx="2714625" cy="38100"/>
          </a:xfrm>
          <a:custGeom>
            <a:avLst/>
            <a:gdLst/>
            <a:ahLst/>
            <a:cxnLst/>
            <a:rect l="l" t="t" r="r" b="b"/>
            <a:pathLst>
              <a:path w="2714625" h="3810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48888" y="1752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25100" y="19431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0060" y="23753"/>
                </a:moveTo>
                <a:lnTo>
                  <a:pt x="68000" y="81617"/>
                </a:lnTo>
                <a:cubicBezTo>
                  <a:pt x="65946" y="83894"/>
                  <a:pt x="66035" y="87422"/>
                  <a:pt x="68223" y="89609"/>
                </a:cubicBezTo>
                <a:cubicBezTo>
                  <a:pt x="81841" y="103227"/>
                  <a:pt x="103942" y="103227"/>
                  <a:pt x="117559" y="89609"/>
                </a:cubicBezTo>
                <a:lnTo>
                  <a:pt x="131758" y="75411"/>
                </a:lnTo>
                <a:cubicBezTo>
                  <a:pt x="133633" y="73536"/>
                  <a:pt x="135999" y="72509"/>
                  <a:pt x="138410" y="72330"/>
                </a:cubicBezTo>
                <a:cubicBezTo>
                  <a:pt x="141446" y="72063"/>
                  <a:pt x="144572" y="73089"/>
                  <a:pt x="146893" y="75411"/>
                </a:cubicBezTo>
                <a:lnTo>
                  <a:pt x="225743" y="153591"/>
                </a:lnTo>
                <a:lnTo>
                  <a:pt x="257175" y="128588"/>
                </a:lnTo>
                <a:lnTo>
                  <a:pt x="257175" y="0"/>
                </a:lnTo>
                <a:lnTo>
                  <a:pt x="207169" y="28575"/>
                </a:lnTo>
                <a:lnTo>
                  <a:pt x="196542" y="21476"/>
                </a:lnTo>
                <a:cubicBezTo>
                  <a:pt x="189488" y="16788"/>
                  <a:pt x="181228" y="14288"/>
                  <a:pt x="172745" y="14288"/>
                </a:cubicBezTo>
                <a:lnTo>
                  <a:pt x="141312" y="14288"/>
                </a:lnTo>
                <a:cubicBezTo>
                  <a:pt x="140821" y="14288"/>
                  <a:pt x="140285" y="14288"/>
                  <a:pt x="139794" y="14332"/>
                </a:cubicBezTo>
                <a:cubicBezTo>
                  <a:pt x="132249" y="14734"/>
                  <a:pt x="125150" y="18127"/>
                  <a:pt x="120060" y="23753"/>
                </a:cubicBezTo>
                <a:close/>
                <a:moveTo>
                  <a:pt x="52060" y="67285"/>
                </a:moveTo>
                <a:lnTo>
                  <a:pt x="99745" y="14288"/>
                </a:lnTo>
                <a:lnTo>
                  <a:pt x="82064" y="14288"/>
                </a:lnTo>
                <a:cubicBezTo>
                  <a:pt x="70678" y="14288"/>
                  <a:pt x="59784" y="18797"/>
                  <a:pt x="51748" y="26834"/>
                </a:cubicBezTo>
                <a:lnTo>
                  <a:pt x="0" y="85725"/>
                </a:lnTo>
                <a:lnTo>
                  <a:pt x="0" y="242888"/>
                </a:lnTo>
                <a:lnTo>
                  <a:pt x="64294" y="182166"/>
                </a:lnTo>
                <a:lnTo>
                  <a:pt x="69830" y="186764"/>
                </a:lnTo>
                <a:cubicBezTo>
                  <a:pt x="80099" y="195337"/>
                  <a:pt x="93047" y="200025"/>
                  <a:pt x="106397" y="200025"/>
                </a:cubicBezTo>
                <a:lnTo>
                  <a:pt x="113407" y="200025"/>
                </a:lnTo>
                <a:lnTo>
                  <a:pt x="110282" y="196900"/>
                </a:lnTo>
                <a:cubicBezTo>
                  <a:pt x="106085" y="192703"/>
                  <a:pt x="106085" y="185916"/>
                  <a:pt x="110282" y="181764"/>
                </a:cubicBezTo>
                <a:cubicBezTo>
                  <a:pt x="114479" y="177611"/>
                  <a:pt x="121265" y="177567"/>
                  <a:pt x="125417" y="181764"/>
                </a:cubicBezTo>
                <a:lnTo>
                  <a:pt x="143723" y="200070"/>
                </a:lnTo>
                <a:lnTo>
                  <a:pt x="147742" y="200070"/>
                </a:lnTo>
                <a:cubicBezTo>
                  <a:pt x="156270" y="200070"/>
                  <a:pt x="164619" y="198150"/>
                  <a:pt x="172209" y="194578"/>
                </a:cubicBezTo>
                <a:lnTo>
                  <a:pt x="160288" y="182612"/>
                </a:lnTo>
                <a:cubicBezTo>
                  <a:pt x="156091" y="178415"/>
                  <a:pt x="156091" y="171629"/>
                  <a:pt x="160288" y="167476"/>
                </a:cubicBezTo>
                <a:cubicBezTo>
                  <a:pt x="164485" y="163324"/>
                  <a:pt x="171271" y="163279"/>
                  <a:pt x="175424" y="167476"/>
                </a:cubicBezTo>
                <a:lnTo>
                  <a:pt x="189711" y="181764"/>
                </a:lnTo>
                <a:lnTo>
                  <a:pt x="197525" y="173950"/>
                </a:lnTo>
                <a:cubicBezTo>
                  <a:pt x="201498" y="169977"/>
                  <a:pt x="202659" y="164217"/>
                  <a:pt x="200918" y="159172"/>
                </a:cubicBezTo>
                <a:lnTo>
                  <a:pt x="139348" y="98093"/>
                </a:lnTo>
                <a:lnTo>
                  <a:pt x="132695" y="104745"/>
                </a:lnTo>
                <a:cubicBezTo>
                  <a:pt x="110683" y="126757"/>
                  <a:pt x="75054" y="126757"/>
                  <a:pt x="53042" y="104745"/>
                </a:cubicBezTo>
                <a:cubicBezTo>
                  <a:pt x="42773" y="94476"/>
                  <a:pt x="42371" y="78001"/>
                  <a:pt x="52060" y="672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9244013" y="2514600"/>
            <a:ext cx="241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Assistance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48775" y="2895600"/>
            <a:ext cx="24098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 clear guidance and best practices to support agents, especially those with less experience in handling emotional conversations.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" y="4629150"/>
            <a:ext cx="5600700" cy="1600200"/>
          </a:xfrm>
          <a:prstGeom prst="roundRect">
            <a:avLst>
              <a:gd name="adj" fmla="val 4762"/>
            </a:avLst>
          </a:prstGeom>
          <a:solidFill>
            <a:srgbClr val="2980B9"/>
          </a:solidFill>
          <a:ln/>
        </p:spPr>
      </p:sp>
      <p:sp>
        <p:nvSpPr>
          <p:cNvPr id="30" name="Shape 28"/>
          <p:cNvSpPr/>
          <p:nvPr/>
        </p:nvSpPr>
        <p:spPr>
          <a:xfrm>
            <a:off x="595313" y="486537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847725" y="4819650"/>
            <a:ext cx="502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Outcomes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00075" y="52387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838200" y="5200650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30-40% reduction in average response time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0075" y="55435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838200" y="5505450"/>
            <a:ext cx="2676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customer satisfaction scores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00075" y="58483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838200" y="5810250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Decreased agent training time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10300" y="4629150"/>
            <a:ext cx="5600700" cy="1600200"/>
          </a:xfrm>
          <a:prstGeom prst="roundRect">
            <a:avLst>
              <a:gd name="adj" fmla="val 4762"/>
            </a:avLst>
          </a:prstGeom>
          <a:solidFill>
            <a:srgbClr val="2C3E50"/>
          </a:solidFill>
          <a:ln/>
        </p:spPr>
      </p:sp>
      <p:sp>
        <p:nvSpPr>
          <p:cNvPr id="39" name="Shape 37"/>
          <p:cNvSpPr/>
          <p:nvPr/>
        </p:nvSpPr>
        <p:spPr>
          <a:xfrm>
            <a:off x="6446044" y="486537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677025" y="4819650"/>
            <a:ext cx="502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19850" y="5238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667500" y="5200650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AI-augmented human intelligence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19850" y="55435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667500" y="5505450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 across industries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19850" y="5848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667500" y="581025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Cost-effective implementation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2980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Workflow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prstGeom prst="roundRect">
            <a:avLst>
              <a:gd name="adj" fmla="val 0"/>
            </a:avLst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388620" y="1531620"/>
            <a:ext cx="3348990" cy="2682240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20320">
            <a:solidFill>
              <a:srgbClr val="2980B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60458" y="1729741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7" name="Shape 5"/>
          <p:cNvSpPr/>
          <p:nvPr/>
        </p:nvSpPr>
        <p:spPr>
          <a:xfrm>
            <a:off x="1950958" y="192024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40987" y="14288"/>
                </a:moveTo>
                <a:cubicBezTo>
                  <a:pt x="26744" y="14288"/>
                  <a:pt x="14689" y="24735"/>
                  <a:pt x="12680" y="38799"/>
                </a:cubicBezTo>
                <a:lnTo>
                  <a:pt x="268" y="125551"/>
                </a:lnTo>
                <a:cubicBezTo>
                  <a:pt x="89" y="126891"/>
                  <a:pt x="0" y="128230"/>
                  <a:pt x="0" y="129614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200025" y="214313"/>
                </a:lnTo>
                <a:cubicBezTo>
                  <a:pt x="215786" y="214313"/>
                  <a:pt x="228600" y="201498"/>
                  <a:pt x="228600" y="185738"/>
                </a:cubicBezTo>
                <a:lnTo>
                  <a:pt x="228600" y="129614"/>
                </a:lnTo>
                <a:cubicBezTo>
                  <a:pt x="228600" y="128275"/>
                  <a:pt x="228511" y="126891"/>
                  <a:pt x="228332" y="125551"/>
                </a:cubicBezTo>
                <a:lnTo>
                  <a:pt x="215920" y="38799"/>
                </a:lnTo>
                <a:cubicBezTo>
                  <a:pt x="213911" y="24735"/>
                  <a:pt x="201856" y="14288"/>
                  <a:pt x="187613" y="14288"/>
                </a:cubicBezTo>
                <a:lnTo>
                  <a:pt x="40987" y="14288"/>
                </a:lnTo>
                <a:close/>
                <a:moveTo>
                  <a:pt x="40987" y="42863"/>
                </a:moveTo>
                <a:lnTo>
                  <a:pt x="187657" y="42863"/>
                </a:lnTo>
                <a:lnTo>
                  <a:pt x="199891" y="128588"/>
                </a:lnTo>
                <a:lnTo>
                  <a:pt x="173147" y="128588"/>
                </a:lnTo>
                <a:cubicBezTo>
                  <a:pt x="167744" y="128588"/>
                  <a:pt x="162788" y="131624"/>
                  <a:pt x="160377" y="136490"/>
                </a:cubicBezTo>
                <a:lnTo>
                  <a:pt x="153992" y="149260"/>
                </a:lnTo>
                <a:cubicBezTo>
                  <a:pt x="151581" y="154082"/>
                  <a:pt x="146625" y="157163"/>
                  <a:pt x="141223" y="157163"/>
                </a:cubicBezTo>
                <a:lnTo>
                  <a:pt x="87466" y="157163"/>
                </a:lnTo>
                <a:cubicBezTo>
                  <a:pt x="82064" y="157163"/>
                  <a:pt x="77108" y="154126"/>
                  <a:pt x="74697" y="149260"/>
                </a:cubicBezTo>
                <a:lnTo>
                  <a:pt x="68312" y="136490"/>
                </a:lnTo>
                <a:cubicBezTo>
                  <a:pt x="65901" y="131668"/>
                  <a:pt x="60945" y="128588"/>
                  <a:pt x="55543" y="128588"/>
                </a:cubicBezTo>
                <a:lnTo>
                  <a:pt x="28709" y="128588"/>
                </a:lnTo>
                <a:lnTo>
                  <a:pt x="40987" y="428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39115" y="2453641"/>
            <a:ext cx="304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4365" y="2910841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10" name="Text 8"/>
          <p:cNvSpPr/>
          <p:nvPr/>
        </p:nvSpPr>
        <p:spPr>
          <a:xfrm>
            <a:off x="853440" y="2872741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message text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4365" y="3215641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853440" y="3177541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 channel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4365" y="3520441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853440" y="3482341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Tone preferences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4365" y="3825241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16" name="Text 14"/>
          <p:cNvSpPr/>
          <p:nvPr/>
        </p:nvSpPr>
        <p:spPr>
          <a:xfrm>
            <a:off x="853440" y="3787141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 parameters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40135" y="272986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18" name="Shape 16"/>
          <p:cNvSpPr/>
          <p:nvPr/>
        </p:nvSpPr>
        <p:spPr>
          <a:xfrm>
            <a:off x="4419243" y="1531620"/>
            <a:ext cx="3348990" cy="2682240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20320">
            <a:solidFill>
              <a:srgbClr val="2C3E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91200" y="1729741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53125" y="1920241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69738" y="2453641"/>
            <a:ext cx="304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64988" y="2910841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3" name="Text 21"/>
          <p:cNvSpPr/>
          <p:nvPr/>
        </p:nvSpPr>
        <p:spPr>
          <a:xfrm>
            <a:off x="4884063" y="2872741"/>
            <a:ext cx="134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Sentiment analysis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64988" y="3215641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5" name="Text 23"/>
          <p:cNvSpPr/>
          <p:nvPr/>
        </p:nvSpPr>
        <p:spPr>
          <a:xfrm>
            <a:off x="4884063" y="3177541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 detection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64988" y="3520441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7" name="Text 25"/>
          <p:cNvSpPr/>
          <p:nvPr/>
        </p:nvSpPr>
        <p:spPr>
          <a:xfrm>
            <a:off x="4884063" y="3482341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Intensity scoring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664988" y="3825241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9" name="Text 27"/>
          <p:cNvSpPr/>
          <p:nvPr/>
        </p:nvSpPr>
        <p:spPr>
          <a:xfrm>
            <a:off x="4884063" y="3787141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generation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970877" y="272986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31" name="Shape 29"/>
          <p:cNvSpPr/>
          <p:nvPr/>
        </p:nvSpPr>
        <p:spPr>
          <a:xfrm>
            <a:off x="8449985" y="1531620"/>
            <a:ext cx="3348990" cy="2682240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20320">
            <a:solidFill>
              <a:srgbClr val="2980B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21823" y="1729741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33" name="Shape 31"/>
          <p:cNvSpPr/>
          <p:nvPr/>
        </p:nvSpPr>
        <p:spPr>
          <a:xfrm>
            <a:off x="9998035" y="192024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39494" y="-11743"/>
                </a:moveTo>
                <a:cubicBezTo>
                  <a:pt x="243870" y="-13305"/>
                  <a:pt x="248692" y="-12189"/>
                  <a:pt x="251996" y="-8930"/>
                </a:cubicBezTo>
                <a:cubicBezTo>
                  <a:pt x="255300" y="-5670"/>
                  <a:pt x="256371" y="-804"/>
                  <a:pt x="254809" y="3572"/>
                </a:cubicBezTo>
                <a:lnTo>
                  <a:pt x="175334" y="225430"/>
                </a:lnTo>
                <a:cubicBezTo>
                  <a:pt x="173102" y="231636"/>
                  <a:pt x="167253" y="235744"/>
                  <a:pt x="160690" y="235744"/>
                </a:cubicBezTo>
                <a:cubicBezTo>
                  <a:pt x="154350" y="235744"/>
                  <a:pt x="148635" y="231904"/>
                  <a:pt x="146268" y="226055"/>
                </a:cubicBezTo>
                <a:lnTo>
                  <a:pt x="117604" y="155511"/>
                </a:lnTo>
                <a:cubicBezTo>
                  <a:pt x="115595" y="150599"/>
                  <a:pt x="116488" y="144973"/>
                  <a:pt x="119926" y="140955"/>
                </a:cubicBezTo>
                <a:lnTo>
                  <a:pt x="162118" y="90770"/>
                </a:lnTo>
                <a:cubicBezTo>
                  <a:pt x="164396" y="88047"/>
                  <a:pt x="164217" y="84073"/>
                  <a:pt x="161717" y="81573"/>
                </a:cubicBezTo>
                <a:cubicBezTo>
                  <a:pt x="159216" y="79072"/>
                  <a:pt x="155198" y="78894"/>
                  <a:pt x="152519" y="81171"/>
                </a:cubicBezTo>
                <a:lnTo>
                  <a:pt x="102334" y="123274"/>
                </a:lnTo>
                <a:cubicBezTo>
                  <a:pt x="98271" y="126668"/>
                  <a:pt x="92690" y="127561"/>
                  <a:pt x="87779" y="125596"/>
                </a:cubicBezTo>
                <a:lnTo>
                  <a:pt x="17011" y="96798"/>
                </a:lnTo>
                <a:cubicBezTo>
                  <a:pt x="11162" y="94431"/>
                  <a:pt x="7322" y="88716"/>
                  <a:pt x="7322" y="82376"/>
                </a:cubicBezTo>
                <a:cubicBezTo>
                  <a:pt x="7322" y="75813"/>
                  <a:pt x="11430" y="69964"/>
                  <a:pt x="17636" y="67732"/>
                </a:cubicBezTo>
                <a:lnTo>
                  <a:pt x="239494" y="-1174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8600480" y="2453641"/>
            <a:ext cx="304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695730" y="2910841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36" name="Text 34"/>
          <p:cNvSpPr/>
          <p:nvPr/>
        </p:nvSpPr>
        <p:spPr>
          <a:xfrm>
            <a:off x="8914805" y="2872741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Generated responses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695730" y="3215641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38" name="Text 36"/>
          <p:cNvSpPr/>
          <p:nvPr/>
        </p:nvSpPr>
        <p:spPr>
          <a:xfrm>
            <a:off x="8914805" y="3177541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Sentiment report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695730" y="3520441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40" name="Text 38"/>
          <p:cNvSpPr/>
          <p:nvPr/>
        </p:nvSpPr>
        <p:spPr>
          <a:xfrm>
            <a:off x="8914805" y="3482341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Do's and Don'ts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695730" y="3825241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42" name="Text 40"/>
          <p:cNvSpPr/>
          <p:nvPr/>
        </p:nvSpPr>
        <p:spPr>
          <a:xfrm>
            <a:off x="8914805" y="3787141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 storage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00050" y="4526282"/>
            <a:ext cx="11410950" cy="990600"/>
          </a:xfrm>
          <a:custGeom>
            <a:avLst/>
            <a:gdLst/>
            <a:ahLst/>
            <a:cxnLst/>
            <a:rect l="l" t="t" r="r" b="b"/>
            <a:pathLst>
              <a:path w="11410950" h="990600">
                <a:moveTo>
                  <a:pt x="3810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914400"/>
                </a:lnTo>
                <a:cubicBezTo>
                  <a:pt x="11410950" y="956456"/>
                  <a:pt x="11376806" y="990600"/>
                  <a:pt x="11334750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400050" y="4526282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45" name="Shape 43"/>
          <p:cNvSpPr/>
          <p:nvPr/>
        </p:nvSpPr>
        <p:spPr>
          <a:xfrm>
            <a:off x="633413" y="47625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75009" y="53578"/>
                </a:moveTo>
                <a:cubicBezTo>
                  <a:pt x="75009" y="47664"/>
                  <a:pt x="79811" y="42863"/>
                  <a:pt x="85725" y="42863"/>
                </a:cubicBezTo>
                <a:cubicBezTo>
                  <a:pt x="91639" y="42863"/>
                  <a:pt x="96441" y="47664"/>
                  <a:pt x="96441" y="53578"/>
                </a:cubicBezTo>
                <a:cubicBezTo>
                  <a:pt x="96441" y="59492"/>
                  <a:pt x="91639" y="64294"/>
                  <a:pt x="85725" y="64294"/>
                </a:cubicBezTo>
                <a:cubicBezTo>
                  <a:pt x="79811" y="64294"/>
                  <a:pt x="75009" y="59492"/>
                  <a:pt x="75009" y="53578"/>
                </a:cubicBezTo>
                <a:close/>
                <a:moveTo>
                  <a:pt x="72330" y="75009"/>
                </a:moveTo>
                <a:lnTo>
                  <a:pt x="88404" y="75009"/>
                </a:lnTo>
                <a:cubicBezTo>
                  <a:pt x="92858" y="75009"/>
                  <a:pt x="96441" y="78592"/>
                  <a:pt x="96441" y="83046"/>
                </a:cubicBezTo>
                <a:lnTo>
                  <a:pt x="96441" y="112514"/>
                </a:lnTo>
                <a:lnTo>
                  <a:pt x="99120" y="112514"/>
                </a:lnTo>
                <a:cubicBezTo>
                  <a:pt x="103573" y="112514"/>
                  <a:pt x="107156" y="116097"/>
                  <a:pt x="107156" y="120551"/>
                </a:cubicBezTo>
                <a:cubicBezTo>
                  <a:pt x="107156" y="125004"/>
                  <a:pt x="103573" y="128588"/>
                  <a:pt x="99120" y="128588"/>
                </a:cubicBezTo>
                <a:lnTo>
                  <a:pt x="72330" y="128588"/>
                </a:lnTo>
                <a:cubicBezTo>
                  <a:pt x="67877" y="128588"/>
                  <a:pt x="64294" y="125004"/>
                  <a:pt x="64294" y="120551"/>
                </a:cubicBezTo>
                <a:cubicBezTo>
                  <a:pt x="64294" y="116097"/>
                  <a:pt x="67877" y="112514"/>
                  <a:pt x="72330" y="112514"/>
                </a:cubicBezTo>
                <a:lnTo>
                  <a:pt x="80367" y="112514"/>
                </a:lnTo>
                <a:lnTo>
                  <a:pt x="80367" y="91083"/>
                </a:lnTo>
                <a:lnTo>
                  <a:pt x="72330" y="91083"/>
                </a:lnTo>
                <a:cubicBezTo>
                  <a:pt x="67877" y="91083"/>
                  <a:pt x="64294" y="87500"/>
                  <a:pt x="64294" y="83046"/>
                </a:cubicBezTo>
                <a:cubicBezTo>
                  <a:pt x="64294" y="78592"/>
                  <a:pt x="67877" y="75009"/>
                  <a:pt x="72330" y="75009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46" name="Text 44"/>
          <p:cNvSpPr/>
          <p:nvPr/>
        </p:nvSpPr>
        <p:spPr>
          <a:xfrm>
            <a:off x="885825" y="4716782"/>
            <a:ext cx="10820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Capabilities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8650" y="51358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48" name="Text 46"/>
          <p:cNvSpPr/>
          <p:nvPr/>
        </p:nvSpPr>
        <p:spPr>
          <a:xfrm>
            <a:off x="876300" y="5097782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analysis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349710" y="51358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50" name="Text 48"/>
          <p:cNvSpPr/>
          <p:nvPr/>
        </p:nvSpPr>
        <p:spPr>
          <a:xfrm>
            <a:off x="4597360" y="5097782"/>
            <a:ext cx="1657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Multi-format responses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070771" y="51358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52" name="Text 50"/>
          <p:cNvSpPr/>
          <p:nvPr/>
        </p:nvSpPr>
        <p:spPr>
          <a:xfrm>
            <a:off x="8318421" y="5097782"/>
            <a:ext cx="1933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Context-aware suggestions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2980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Components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prstGeom prst="roundRect">
            <a:avLst>
              <a:gd name="adj" fmla="val 0"/>
            </a:avLst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47800"/>
            <a:ext cx="7534275" cy="1714500"/>
          </a:xfrm>
          <a:custGeom>
            <a:avLst/>
            <a:gdLst/>
            <a:ahLst/>
            <a:cxnLst/>
            <a:rect l="l" t="t" r="r" b="b"/>
            <a:pathLst>
              <a:path w="7534275" h="1714500">
                <a:moveTo>
                  <a:pt x="38100" y="0"/>
                </a:moveTo>
                <a:lnTo>
                  <a:pt x="7458075" y="0"/>
                </a:lnTo>
                <a:cubicBezTo>
                  <a:pt x="7500131" y="0"/>
                  <a:pt x="7534275" y="34144"/>
                  <a:pt x="7534275" y="76200"/>
                </a:cubicBezTo>
                <a:lnTo>
                  <a:pt x="7534275" y="1638300"/>
                </a:lnTo>
                <a:cubicBezTo>
                  <a:pt x="7534275" y="1680356"/>
                  <a:pt x="7500131" y="1714500"/>
                  <a:pt x="7458075" y="1714500"/>
                </a:cubicBez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447800"/>
            <a:ext cx="38100" cy="1714500"/>
          </a:xfrm>
          <a:custGeom>
            <a:avLst/>
            <a:gdLst/>
            <a:ahLst/>
            <a:cxnLst/>
            <a:rect l="l" t="t" r="r" b="b"/>
            <a:pathLst>
              <a:path w="38100" h="1714500">
                <a:moveTo>
                  <a:pt x="38100" y="0"/>
                </a:moveTo>
                <a:lnTo>
                  <a:pt x="38100" y="0"/>
                </a:lnTo>
                <a:lnTo>
                  <a:pt x="38100" y="1714500"/>
                </a:ln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6383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980B9"/>
          </a:solidFill>
          <a:ln/>
        </p:spPr>
      </p:sp>
      <p:sp>
        <p:nvSpPr>
          <p:cNvPr id="8" name="Shape 6"/>
          <p:cNvSpPr/>
          <p:nvPr/>
        </p:nvSpPr>
        <p:spPr>
          <a:xfrm>
            <a:off x="742950" y="1771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81100" y="1638300"/>
            <a:ext cx="1704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1100" y="1905000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React-based User Interface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3888" y="22860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828675" y="2209800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Intuitive message input interface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3888" y="2552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828675" y="247650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response display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3888" y="28194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16" name="Text 14"/>
          <p:cNvSpPr/>
          <p:nvPr/>
        </p:nvSpPr>
        <p:spPr>
          <a:xfrm>
            <a:off x="828675" y="2743200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Parameter configuration panel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314700"/>
            <a:ext cx="7534275" cy="1714500"/>
          </a:xfrm>
          <a:custGeom>
            <a:avLst/>
            <a:gdLst/>
            <a:ahLst/>
            <a:cxnLst/>
            <a:rect l="l" t="t" r="r" b="b"/>
            <a:pathLst>
              <a:path w="7534275" h="1714500">
                <a:moveTo>
                  <a:pt x="38100" y="0"/>
                </a:moveTo>
                <a:lnTo>
                  <a:pt x="7458075" y="0"/>
                </a:lnTo>
                <a:cubicBezTo>
                  <a:pt x="7500131" y="0"/>
                  <a:pt x="7534275" y="34144"/>
                  <a:pt x="7534275" y="76200"/>
                </a:cubicBezTo>
                <a:lnTo>
                  <a:pt x="7534275" y="1638300"/>
                </a:lnTo>
                <a:cubicBezTo>
                  <a:pt x="7534275" y="1680356"/>
                  <a:pt x="7500131" y="1714500"/>
                  <a:pt x="7458075" y="1714500"/>
                </a:cubicBez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3314700"/>
            <a:ext cx="38100" cy="1714500"/>
          </a:xfrm>
          <a:custGeom>
            <a:avLst/>
            <a:gdLst/>
            <a:ahLst/>
            <a:cxnLst/>
            <a:rect l="l" t="t" r="r" b="b"/>
            <a:pathLst>
              <a:path w="38100" h="1714500">
                <a:moveTo>
                  <a:pt x="38100" y="0"/>
                </a:moveTo>
                <a:lnTo>
                  <a:pt x="38100" y="0"/>
                </a:lnTo>
                <a:lnTo>
                  <a:pt x="38100" y="1714500"/>
                </a:ln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35052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C3E50"/>
          </a:solidFill>
          <a:ln/>
        </p:spPr>
      </p:sp>
      <p:sp>
        <p:nvSpPr>
          <p:cNvPr id="20" name="Shape 18"/>
          <p:cNvSpPr/>
          <p:nvPr/>
        </p:nvSpPr>
        <p:spPr>
          <a:xfrm>
            <a:off x="754856" y="36385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81100" y="3505200"/>
            <a:ext cx="133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Layer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1100" y="3771900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 Server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3888" y="41529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4" name="Text 22"/>
          <p:cNvSpPr/>
          <p:nvPr/>
        </p:nvSpPr>
        <p:spPr>
          <a:xfrm>
            <a:off x="828675" y="4076700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RESTful API endpoints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3888" y="44196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6" name="Text 24"/>
          <p:cNvSpPr/>
          <p:nvPr/>
        </p:nvSpPr>
        <p:spPr>
          <a:xfrm>
            <a:off x="828675" y="4343400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validation and processing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3888" y="46863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8" name="Text 26"/>
          <p:cNvSpPr/>
          <p:nvPr/>
        </p:nvSpPr>
        <p:spPr>
          <a:xfrm>
            <a:off x="828675" y="4610100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 orchestration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46971" y="1447800"/>
            <a:ext cx="3667125" cy="1714500"/>
          </a:xfrm>
          <a:custGeom>
            <a:avLst/>
            <a:gdLst/>
            <a:ahLst/>
            <a:cxnLst/>
            <a:rect l="l" t="t" r="r" b="b"/>
            <a:pathLst>
              <a:path w="3667125" h="1714500">
                <a:moveTo>
                  <a:pt x="38100" y="0"/>
                </a:moveTo>
                <a:lnTo>
                  <a:pt x="3590925" y="0"/>
                </a:lnTo>
                <a:cubicBezTo>
                  <a:pt x="3632981" y="0"/>
                  <a:pt x="3667125" y="34144"/>
                  <a:pt x="3667125" y="76200"/>
                </a:cubicBezTo>
                <a:lnTo>
                  <a:pt x="3667125" y="1638300"/>
                </a:lnTo>
                <a:cubicBezTo>
                  <a:pt x="3667125" y="1680356"/>
                  <a:pt x="3632981" y="1714500"/>
                  <a:pt x="3590925" y="1714500"/>
                </a:cubicBez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146971" y="1447800"/>
            <a:ext cx="38100" cy="1714500"/>
          </a:xfrm>
          <a:custGeom>
            <a:avLst/>
            <a:gdLst/>
            <a:ahLst/>
            <a:cxnLst/>
            <a:rect l="l" t="t" r="r" b="b"/>
            <a:pathLst>
              <a:path w="38100" h="1714500">
                <a:moveTo>
                  <a:pt x="38100" y="0"/>
                </a:moveTo>
                <a:lnTo>
                  <a:pt x="38100" y="0"/>
                </a:lnTo>
                <a:lnTo>
                  <a:pt x="38100" y="1714500"/>
                </a:ln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31" name="Shape 29"/>
          <p:cNvSpPr/>
          <p:nvPr/>
        </p:nvSpPr>
        <p:spPr>
          <a:xfrm>
            <a:off x="8356521" y="16383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980B9"/>
          </a:solidFill>
          <a:ln/>
        </p:spPr>
      </p:sp>
      <p:sp>
        <p:nvSpPr>
          <p:cNvPr id="32" name="Shape 30"/>
          <p:cNvSpPr/>
          <p:nvPr/>
        </p:nvSpPr>
        <p:spPr>
          <a:xfrm>
            <a:off x="8489871" y="1771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8930"/>
                </a:moveTo>
                <a:cubicBezTo>
                  <a:pt x="65484" y="3981"/>
                  <a:pt x="61503" y="0"/>
                  <a:pt x="56555" y="0"/>
                </a:cubicBezTo>
                <a:cubicBezTo>
                  <a:pt x="51606" y="0"/>
                  <a:pt x="47625" y="3981"/>
                  <a:pt x="47625" y="8930"/>
                </a:cubicBezTo>
                <a:lnTo>
                  <a:pt x="47625" y="23812"/>
                </a:lnTo>
                <a:cubicBezTo>
                  <a:pt x="34491" y="23812"/>
                  <a:pt x="23812" y="34491"/>
                  <a:pt x="23812" y="47625"/>
                </a:cubicBezTo>
                <a:lnTo>
                  <a:pt x="8930" y="47625"/>
                </a:lnTo>
                <a:cubicBezTo>
                  <a:pt x="3981" y="47625"/>
                  <a:pt x="0" y="51606"/>
                  <a:pt x="0" y="56555"/>
                </a:cubicBezTo>
                <a:cubicBezTo>
                  <a:pt x="0" y="61503"/>
                  <a:pt x="3981" y="65484"/>
                  <a:pt x="8930" y="65484"/>
                </a:cubicBezTo>
                <a:lnTo>
                  <a:pt x="23812" y="65484"/>
                </a:lnTo>
                <a:lnTo>
                  <a:pt x="23812" y="86320"/>
                </a:lnTo>
                <a:lnTo>
                  <a:pt x="8930" y="86320"/>
                </a:lnTo>
                <a:cubicBezTo>
                  <a:pt x="3981" y="86320"/>
                  <a:pt x="0" y="90301"/>
                  <a:pt x="0" y="95250"/>
                </a:cubicBezTo>
                <a:cubicBezTo>
                  <a:pt x="0" y="100199"/>
                  <a:pt x="3981" y="104180"/>
                  <a:pt x="8930" y="104180"/>
                </a:cubicBezTo>
                <a:lnTo>
                  <a:pt x="23812" y="104180"/>
                </a:lnTo>
                <a:lnTo>
                  <a:pt x="23812" y="125016"/>
                </a:lnTo>
                <a:lnTo>
                  <a:pt x="8930" y="125016"/>
                </a:lnTo>
                <a:cubicBezTo>
                  <a:pt x="3981" y="125016"/>
                  <a:pt x="0" y="128997"/>
                  <a:pt x="0" y="133945"/>
                </a:cubicBezTo>
                <a:cubicBezTo>
                  <a:pt x="0" y="138894"/>
                  <a:pt x="3981" y="142875"/>
                  <a:pt x="8930" y="142875"/>
                </a:cubicBezTo>
                <a:lnTo>
                  <a:pt x="23812" y="142875"/>
                </a:lnTo>
                <a:cubicBezTo>
                  <a:pt x="23812" y="156009"/>
                  <a:pt x="34491" y="166688"/>
                  <a:pt x="47625" y="166688"/>
                </a:cubicBezTo>
                <a:lnTo>
                  <a:pt x="47625" y="181570"/>
                </a:lnTo>
                <a:cubicBezTo>
                  <a:pt x="47625" y="186519"/>
                  <a:pt x="51606" y="190500"/>
                  <a:pt x="56555" y="190500"/>
                </a:cubicBezTo>
                <a:cubicBezTo>
                  <a:pt x="61503" y="190500"/>
                  <a:pt x="65484" y="186519"/>
                  <a:pt x="65484" y="181570"/>
                </a:cubicBezTo>
                <a:lnTo>
                  <a:pt x="65484" y="166688"/>
                </a:lnTo>
                <a:lnTo>
                  <a:pt x="86320" y="166688"/>
                </a:lnTo>
                <a:lnTo>
                  <a:pt x="86320" y="181570"/>
                </a:lnTo>
                <a:cubicBezTo>
                  <a:pt x="86320" y="186519"/>
                  <a:pt x="90301" y="190500"/>
                  <a:pt x="95250" y="190500"/>
                </a:cubicBezTo>
                <a:cubicBezTo>
                  <a:pt x="100199" y="190500"/>
                  <a:pt x="104180" y="186519"/>
                  <a:pt x="104180" y="181570"/>
                </a:cubicBezTo>
                <a:lnTo>
                  <a:pt x="104180" y="166688"/>
                </a:lnTo>
                <a:lnTo>
                  <a:pt x="125016" y="166688"/>
                </a:lnTo>
                <a:lnTo>
                  <a:pt x="125016" y="181570"/>
                </a:lnTo>
                <a:cubicBezTo>
                  <a:pt x="125016" y="186519"/>
                  <a:pt x="128997" y="190500"/>
                  <a:pt x="133945" y="190500"/>
                </a:cubicBezTo>
                <a:cubicBezTo>
                  <a:pt x="138894" y="190500"/>
                  <a:pt x="142875" y="186519"/>
                  <a:pt x="142875" y="181570"/>
                </a:cubicBezTo>
                <a:lnTo>
                  <a:pt x="142875" y="166688"/>
                </a:lnTo>
                <a:cubicBezTo>
                  <a:pt x="156009" y="166688"/>
                  <a:pt x="166688" y="156009"/>
                  <a:pt x="166688" y="142875"/>
                </a:cubicBezTo>
                <a:lnTo>
                  <a:pt x="181570" y="142875"/>
                </a:lnTo>
                <a:cubicBezTo>
                  <a:pt x="186519" y="142875"/>
                  <a:pt x="190500" y="138894"/>
                  <a:pt x="190500" y="133945"/>
                </a:cubicBezTo>
                <a:cubicBezTo>
                  <a:pt x="190500" y="128997"/>
                  <a:pt x="186519" y="125016"/>
                  <a:pt x="181570" y="125016"/>
                </a:cubicBezTo>
                <a:lnTo>
                  <a:pt x="166688" y="125016"/>
                </a:lnTo>
                <a:lnTo>
                  <a:pt x="166688" y="104180"/>
                </a:lnTo>
                <a:lnTo>
                  <a:pt x="181570" y="104180"/>
                </a:lnTo>
                <a:cubicBezTo>
                  <a:pt x="186519" y="104180"/>
                  <a:pt x="190500" y="100199"/>
                  <a:pt x="190500" y="95250"/>
                </a:cubicBezTo>
                <a:cubicBezTo>
                  <a:pt x="190500" y="90301"/>
                  <a:pt x="186519" y="86320"/>
                  <a:pt x="181570" y="86320"/>
                </a:cubicBezTo>
                <a:lnTo>
                  <a:pt x="166688" y="86320"/>
                </a:lnTo>
                <a:lnTo>
                  <a:pt x="166688" y="65484"/>
                </a:lnTo>
                <a:lnTo>
                  <a:pt x="181570" y="65484"/>
                </a:lnTo>
                <a:cubicBezTo>
                  <a:pt x="186519" y="65484"/>
                  <a:pt x="190500" y="61503"/>
                  <a:pt x="190500" y="56555"/>
                </a:cubicBezTo>
                <a:cubicBezTo>
                  <a:pt x="190500" y="51606"/>
                  <a:pt x="186519" y="47625"/>
                  <a:pt x="181570" y="47625"/>
                </a:cubicBez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42875" y="8930"/>
                </a:lnTo>
                <a:cubicBezTo>
                  <a:pt x="142875" y="3981"/>
                  <a:pt x="138894" y="0"/>
                  <a:pt x="133945" y="0"/>
                </a:cubicBezTo>
                <a:cubicBezTo>
                  <a:pt x="128997" y="0"/>
                  <a:pt x="125016" y="3981"/>
                  <a:pt x="125016" y="8930"/>
                </a:cubicBezTo>
                <a:lnTo>
                  <a:pt x="125016" y="23812"/>
                </a:lnTo>
                <a:lnTo>
                  <a:pt x="104180" y="23812"/>
                </a:lnTo>
                <a:lnTo>
                  <a:pt x="104180" y="8930"/>
                </a:lnTo>
                <a:cubicBezTo>
                  <a:pt x="104180" y="3981"/>
                  <a:pt x="100199" y="0"/>
                  <a:pt x="95250" y="0"/>
                </a:cubicBezTo>
                <a:cubicBezTo>
                  <a:pt x="90301" y="0"/>
                  <a:pt x="86320" y="3981"/>
                  <a:pt x="86320" y="8930"/>
                </a:cubicBezTo>
                <a:lnTo>
                  <a:pt x="86320" y="23812"/>
                </a:lnTo>
                <a:lnTo>
                  <a:pt x="65484" y="23812"/>
                </a:lnTo>
                <a:lnTo>
                  <a:pt x="65484" y="8930"/>
                </a:lnTo>
                <a:close/>
                <a:moveTo>
                  <a:pt x="59531" y="47625"/>
                </a:moveTo>
                <a:lnTo>
                  <a:pt x="130969" y="47625"/>
                </a:lnTo>
                <a:cubicBezTo>
                  <a:pt x="137554" y="47625"/>
                  <a:pt x="142875" y="52946"/>
                  <a:pt x="142875" y="59531"/>
                </a:cubicBezTo>
                <a:lnTo>
                  <a:pt x="142875" y="130969"/>
                </a:lnTo>
                <a:cubicBezTo>
                  <a:pt x="142875" y="137554"/>
                  <a:pt x="137554" y="142875"/>
                  <a:pt x="130969" y="142875"/>
                </a:cubicBezTo>
                <a:lnTo>
                  <a:pt x="59531" y="142875"/>
                </a:lnTo>
                <a:cubicBezTo>
                  <a:pt x="52946" y="142875"/>
                  <a:pt x="47625" y="137554"/>
                  <a:pt x="47625" y="130969"/>
                </a:cubicBezTo>
                <a:lnTo>
                  <a:pt x="47625" y="59531"/>
                </a:lnTo>
                <a:cubicBezTo>
                  <a:pt x="47625" y="52946"/>
                  <a:pt x="52946" y="47625"/>
                  <a:pt x="59531" y="47625"/>
                </a:cubicBezTo>
                <a:close/>
                <a:moveTo>
                  <a:pt x="65484" y="65484"/>
                </a:moveTo>
                <a:lnTo>
                  <a:pt x="65484" y="125016"/>
                </a:lnTo>
                <a:lnTo>
                  <a:pt x="125016" y="125016"/>
                </a:lnTo>
                <a:lnTo>
                  <a:pt x="125016" y="65484"/>
                </a:lnTo>
                <a:lnTo>
                  <a:pt x="65484" y="6548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8928021" y="1638300"/>
            <a:ext cx="138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Services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928021" y="1905000"/>
            <a:ext cx="136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&amp; Generation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70808" y="22860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36" name="Text 34"/>
          <p:cNvSpPr/>
          <p:nvPr/>
        </p:nvSpPr>
        <p:spPr>
          <a:xfrm>
            <a:off x="8575596" y="2209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Sentiment analysis engine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70808" y="2552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38" name="Text 36"/>
          <p:cNvSpPr/>
          <p:nvPr/>
        </p:nvSpPr>
        <p:spPr>
          <a:xfrm>
            <a:off x="8575596" y="247650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 detection model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70808" y="28194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40" name="Text 38"/>
          <p:cNvSpPr/>
          <p:nvPr/>
        </p:nvSpPr>
        <p:spPr>
          <a:xfrm>
            <a:off x="8575596" y="2743200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generation service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46971" y="3314700"/>
            <a:ext cx="3667125" cy="1714500"/>
          </a:xfrm>
          <a:custGeom>
            <a:avLst/>
            <a:gdLst/>
            <a:ahLst/>
            <a:cxnLst/>
            <a:rect l="l" t="t" r="r" b="b"/>
            <a:pathLst>
              <a:path w="3667125" h="1714500">
                <a:moveTo>
                  <a:pt x="38100" y="0"/>
                </a:moveTo>
                <a:lnTo>
                  <a:pt x="3590925" y="0"/>
                </a:lnTo>
                <a:cubicBezTo>
                  <a:pt x="3632981" y="0"/>
                  <a:pt x="3667125" y="34144"/>
                  <a:pt x="3667125" y="76200"/>
                </a:cubicBezTo>
                <a:lnTo>
                  <a:pt x="3667125" y="1638300"/>
                </a:lnTo>
                <a:cubicBezTo>
                  <a:pt x="3667125" y="1680356"/>
                  <a:pt x="3632981" y="1714500"/>
                  <a:pt x="3590925" y="1714500"/>
                </a:cubicBez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8146971" y="3314700"/>
            <a:ext cx="38100" cy="1714500"/>
          </a:xfrm>
          <a:custGeom>
            <a:avLst/>
            <a:gdLst/>
            <a:ahLst/>
            <a:cxnLst/>
            <a:rect l="l" t="t" r="r" b="b"/>
            <a:pathLst>
              <a:path w="38100" h="1714500">
                <a:moveTo>
                  <a:pt x="38100" y="0"/>
                </a:moveTo>
                <a:lnTo>
                  <a:pt x="38100" y="0"/>
                </a:lnTo>
                <a:lnTo>
                  <a:pt x="38100" y="1714500"/>
                </a:ln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3" name="Shape 41"/>
          <p:cNvSpPr/>
          <p:nvPr/>
        </p:nvSpPr>
        <p:spPr>
          <a:xfrm>
            <a:off x="8356521" y="35052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C3E50"/>
          </a:solidFill>
          <a:ln/>
        </p:spPr>
      </p:sp>
      <p:sp>
        <p:nvSpPr>
          <p:cNvPr id="44" name="Shape 42"/>
          <p:cNvSpPr/>
          <p:nvPr/>
        </p:nvSpPr>
        <p:spPr>
          <a:xfrm>
            <a:off x="8501777" y="36385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8928021" y="3505200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928021" y="377190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SQLite Database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370808" y="41529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8" name="Text 46"/>
          <p:cNvSpPr/>
          <p:nvPr/>
        </p:nvSpPr>
        <p:spPr>
          <a:xfrm>
            <a:off x="8575596" y="40767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 history storage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370808" y="44196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50" name="Text 48"/>
          <p:cNvSpPr/>
          <p:nvPr/>
        </p:nvSpPr>
        <p:spPr>
          <a:xfrm>
            <a:off x="8575596" y="4343400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templates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70808" y="46863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52" name="Text 50"/>
          <p:cNvSpPr/>
          <p:nvPr/>
        </p:nvSpPr>
        <p:spPr>
          <a:xfrm>
            <a:off x="8575596" y="4610100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and reporting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81000" y="5181600"/>
            <a:ext cx="11430000" cy="533400"/>
          </a:xfrm>
          <a:prstGeom prst="roundRect">
            <a:avLst>
              <a:gd name="adj" fmla="val 14286"/>
            </a:avLst>
          </a:prstGeom>
          <a:solidFill>
            <a:srgbClr val="2C3E50"/>
          </a:solidFill>
          <a:ln/>
        </p:spPr>
      </p:sp>
      <p:sp>
        <p:nvSpPr>
          <p:cNvPr id="54" name="Shape 52"/>
          <p:cNvSpPr/>
          <p:nvPr/>
        </p:nvSpPr>
        <p:spPr>
          <a:xfrm>
            <a:off x="1880711" y="53644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3813"/>
                </a:moveTo>
                <a:cubicBezTo>
                  <a:pt x="0" y="15925"/>
                  <a:pt x="6400" y="9525"/>
                  <a:pt x="14288" y="9525"/>
                </a:cubicBezTo>
                <a:lnTo>
                  <a:pt x="42863" y="9525"/>
                </a:lnTo>
                <a:cubicBezTo>
                  <a:pt x="50750" y="9525"/>
                  <a:pt x="57150" y="15925"/>
                  <a:pt x="57150" y="23813"/>
                </a:cubicBezTo>
                <a:lnTo>
                  <a:pt x="57150" y="28575"/>
                </a:lnTo>
                <a:lnTo>
                  <a:pt x="95250" y="28575"/>
                </a:lnTo>
                <a:lnTo>
                  <a:pt x="95250" y="23813"/>
                </a:lnTo>
                <a:cubicBezTo>
                  <a:pt x="95250" y="15925"/>
                  <a:pt x="101650" y="9525"/>
                  <a:pt x="109537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52388"/>
                </a:lnTo>
                <a:cubicBezTo>
                  <a:pt x="152400" y="60275"/>
                  <a:pt x="146000" y="66675"/>
                  <a:pt x="138113" y="66675"/>
                </a:cubicBezTo>
                <a:lnTo>
                  <a:pt x="109537" y="66675"/>
                </a:lnTo>
                <a:cubicBezTo>
                  <a:pt x="101650" y="66675"/>
                  <a:pt x="95250" y="60275"/>
                  <a:pt x="95250" y="52388"/>
                </a:cubicBezTo>
                <a:lnTo>
                  <a:pt x="95250" y="47625"/>
                </a:lnTo>
                <a:lnTo>
                  <a:pt x="57150" y="47625"/>
                </a:lnTo>
                <a:lnTo>
                  <a:pt x="57150" y="52388"/>
                </a:lnTo>
                <a:cubicBezTo>
                  <a:pt x="57150" y="54560"/>
                  <a:pt x="56644" y="56644"/>
                  <a:pt x="55781" y="58489"/>
                </a:cubicBezTo>
                <a:lnTo>
                  <a:pt x="76200" y="85725"/>
                </a:lnTo>
                <a:lnTo>
                  <a:pt x="100013" y="85725"/>
                </a:lnTo>
                <a:cubicBezTo>
                  <a:pt x="107900" y="85725"/>
                  <a:pt x="114300" y="92125"/>
                  <a:pt x="114300" y="100013"/>
                </a:cubicBezTo>
                <a:lnTo>
                  <a:pt x="114300" y="128588"/>
                </a:lnTo>
                <a:cubicBezTo>
                  <a:pt x="114300" y="136475"/>
                  <a:pt x="107900" y="142875"/>
                  <a:pt x="100013" y="142875"/>
                </a:cubicBezTo>
                <a:lnTo>
                  <a:pt x="71438" y="142875"/>
                </a:lnTo>
                <a:cubicBezTo>
                  <a:pt x="63550" y="142875"/>
                  <a:pt x="57150" y="136475"/>
                  <a:pt x="57150" y="128588"/>
                </a:cubicBezTo>
                <a:lnTo>
                  <a:pt x="57150" y="100013"/>
                </a:lnTo>
                <a:cubicBezTo>
                  <a:pt x="57150" y="97840"/>
                  <a:pt x="57656" y="95756"/>
                  <a:pt x="58519" y="93911"/>
                </a:cubicBezTo>
                <a:lnTo>
                  <a:pt x="38100" y="66675"/>
                </a:lnTo>
                <a:lnTo>
                  <a:pt x="14288" y="66675"/>
                </a:lnTo>
                <a:cubicBezTo>
                  <a:pt x="6400" y="66675"/>
                  <a:pt x="0" y="60275"/>
                  <a:pt x="0" y="52388"/>
                </a:cubicBezTo>
                <a:lnTo>
                  <a:pt x="0" y="2381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742950" y="5334000"/>
            <a:ext cx="1095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Pattern:</a:t>
            </a: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200" dirty="0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Modular Service-Oriented Architecture with </a:t>
            </a: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clear separation of concerns, enabling scalability and maintainability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2980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TECHNOLOGY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Sentiment and Emotion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prstGeom prst="roundRect">
            <a:avLst>
              <a:gd name="adj" fmla="val 0"/>
            </a:avLst>
          </a:prstGeom>
          <a:solidFill>
            <a:srgbClr val="2980B9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46685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8" name="Text 6"/>
          <p:cNvSpPr/>
          <p:nvPr/>
        </p:nvSpPr>
        <p:spPr>
          <a:xfrm>
            <a:off x="866775" y="1676400"/>
            <a:ext cx="501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" y="20955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571500" y="209550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00C950"/>
          </a:solidFill>
          <a:ln/>
        </p:spPr>
      </p:sp>
      <p:sp>
        <p:nvSpPr>
          <p:cNvPr id="11" name="Text 9"/>
          <p:cNvSpPr/>
          <p:nvPr/>
        </p:nvSpPr>
        <p:spPr>
          <a:xfrm>
            <a:off x="538163" y="2095500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2095500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24384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14" name="Shape 12"/>
          <p:cNvSpPr/>
          <p:nvPr/>
        </p:nvSpPr>
        <p:spPr>
          <a:xfrm>
            <a:off x="571500" y="2438400"/>
            <a:ext cx="714375" cy="228600"/>
          </a:xfrm>
          <a:prstGeom prst="roundRect">
            <a:avLst>
              <a:gd name="adj" fmla="val 50000"/>
            </a:avLst>
          </a:prstGeom>
          <a:solidFill>
            <a:srgbClr val="F0B100"/>
          </a:solidFill>
          <a:ln/>
        </p:spPr>
      </p:sp>
      <p:sp>
        <p:nvSpPr>
          <p:cNvPr id="15" name="Text 13"/>
          <p:cNvSpPr/>
          <p:nvPr/>
        </p:nvSpPr>
        <p:spPr>
          <a:xfrm>
            <a:off x="538163" y="2438400"/>
            <a:ext cx="781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Neutral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2438400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" y="27813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18" name="Shape 16"/>
          <p:cNvSpPr/>
          <p:nvPr/>
        </p:nvSpPr>
        <p:spPr>
          <a:xfrm>
            <a:off x="571500" y="2781300"/>
            <a:ext cx="838200" cy="228600"/>
          </a:xfrm>
          <a:prstGeom prst="roundRect">
            <a:avLst>
              <a:gd name="adj" fmla="val 50000"/>
            </a:avLst>
          </a:prstGeom>
          <a:solidFill>
            <a:srgbClr val="FB2C36"/>
          </a:solidFill>
          <a:ln/>
        </p:spPr>
      </p:sp>
      <p:sp>
        <p:nvSpPr>
          <p:cNvPr id="19" name="Text 17"/>
          <p:cNvSpPr/>
          <p:nvPr/>
        </p:nvSpPr>
        <p:spPr>
          <a:xfrm>
            <a:off x="538163" y="2781300"/>
            <a:ext cx="90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Negative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2781300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85750" y="1800224"/>
            <a:ext cx="5600700" cy="4257676"/>
          </a:xfrm>
          <a:custGeom>
            <a:avLst/>
            <a:gdLst/>
            <a:ahLst/>
            <a:cxnLst/>
            <a:rect l="l" t="t" r="r" b="b"/>
            <a:pathLst>
              <a:path w="5600700" h="173355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1657350"/>
                </a:lnTo>
                <a:cubicBezTo>
                  <a:pt x="5600700" y="1699406"/>
                  <a:pt x="5566556" y="1733550"/>
                  <a:pt x="5524500" y="1733550"/>
                </a:cubicBezTo>
                <a:lnTo>
                  <a:pt x="76200" y="1733550"/>
                </a:lnTo>
                <a:cubicBezTo>
                  <a:pt x="34144" y="1733550"/>
                  <a:pt x="0" y="1699406"/>
                  <a:pt x="0" y="1657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38150" y="1878332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3" name="Shape 21"/>
          <p:cNvSpPr/>
          <p:nvPr/>
        </p:nvSpPr>
        <p:spPr>
          <a:xfrm>
            <a:off x="495300" y="2228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2171700"/>
            <a:ext cx="501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 Detection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5300" y="3676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B2C36"/>
          </a:solidFill>
          <a:ln/>
        </p:spPr>
      </p:sp>
      <p:sp>
        <p:nvSpPr>
          <p:cNvPr id="26" name="Text 24"/>
          <p:cNvSpPr/>
          <p:nvPr/>
        </p:nvSpPr>
        <p:spPr>
          <a:xfrm>
            <a:off x="738188" y="3619500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Anger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1013" y="33337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6900"/>
          </a:solidFill>
          <a:ln/>
        </p:spPr>
      </p:sp>
      <p:sp>
        <p:nvSpPr>
          <p:cNvPr id="28" name="Text 26"/>
          <p:cNvSpPr/>
          <p:nvPr/>
        </p:nvSpPr>
        <p:spPr>
          <a:xfrm>
            <a:off x="723900" y="3276600"/>
            <a:ext cx="809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Frustration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1013" y="40195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0B100"/>
          </a:solidFill>
          <a:ln/>
        </p:spPr>
      </p:sp>
      <p:sp>
        <p:nvSpPr>
          <p:cNvPr id="30" name="Text 28"/>
          <p:cNvSpPr/>
          <p:nvPr/>
        </p:nvSpPr>
        <p:spPr>
          <a:xfrm>
            <a:off x="723900" y="3962400"/>
            <a:ext cx="64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Urgency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7200" y="30480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B7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23900" y="3009900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Confusion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8150" y="437388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C950"/>
          </a:solidFill>
          <a:ln/>
        </p:spPr>
      </p:sp>
      <p:sp>
        <p:nvSpPr>
          <p:cNvPr id="34" name="Text 32"/>
          <p:cNvSpPr/>
          <p:nvPr/>
        </p:nvSpPr>
        <p:spPr>
          <a:xfrm>
            <a:off x="657225" y="4305300"/>
            <a:ext cx="87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Satisfaction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81013" y="27241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AD46FF"/>
          </a:solidFill>
          <a:ln/>
        </p:spPr>
      </p:sp>
      <p:sp>
        <p:nvSpPr>
          <p:cNvPr id="36" name="Text 34"/>
          <p:cNvSpPr/>
          <p:nvPr/>
        </p:nvSpPr>
        <p:spPr>
          <a:xfrm>
            <a:off x="738188" y="2667000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Gratitude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10300" y="1466850"/>
            <a:ext cx="5600700" cy="2457450"/>
          </a:xfrm>
          <a:custGeom>
            <a:avLst/>
            <a:gdLst/>
            <a:ahLst/>
            <a:cxnLst/>
            <a:rect l="l" t="t" r="r" b="b"/>
            <a:pathLst>
              <a:path w="5600700" h="245745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2381250"/>
                </a:lnTo>
                <a:cubicBezTo>
                  <a:pt x="5600700" y="2423306"/>
                  <a:pt x="5566556" y="2457450"/>
                  <a:pt x="5524500" y="2457450"/>
                </a:cubicBezTo>
                <a:lnTo>
                  <a:pt x="76200" y="2457450"/>
                </a:lnTo>
                <a:cubicBezTo>
                  <a:pt x="34144" y="2457450"/>
                  <a:pt x="0" y="2423306"/>
                  <a:pt x="0" y="2381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6210300" y="146685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39" name="Shape 37"/>
          <p:cNvSpPr/>
          <p:nvPr/>
        </p:nvSpPr>
        <p:spPr>
          <a:xfrm>
            <a:off x="6460331" y="1706882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9531" y="0"/>
                </a:moveTo>
                <a:cubicBezTo>
                  <a:pt x="39812" y="0"/>
                  <a:pt x="23812" y="15999"/>
                  <a:pt x="23812" y="35719"/>
                </a:cubicBezTo>
                <a:lnTo>
                  <a:pt x="23812" y="96999"/>
                </a:lnTo>
                <a:cubicBezTo>
                  <a:pt x="12836" y="106784"/>
                  <a:pt x="5953" y="121072"/>
                  <a:pt x="5953" y="136922"/>
                </a:cubicBezTo>
                <a:cubicBezTo>
                  <a:pt x="5953" y="166501"/>
                  <a:pt x="29952" y="190500"/>
                  <a:pt x="59531" y="190500"/>
                </a:cubicBezTo>
                <a:cubicBezTo>
                  <a:pt x="89111" y="190500"/>
                  <a:pt x="113109" y="166501"/>
                  <a:pt x="113109" y="136922"/>
                </a:cubicBezTo>
                <a:cubicBezTo>
                  <a:pt x="113109" y="121072"/>
                  <a:pt x="106226" y="106784"/>
                  <a:pt x="95250" y="96999"/>
                </a:cubicBezTo>
                <a:lnTo>
                  <a:pt x="95250" y="35719"/>
                </a:lnTo>
                <a:cubicBezTo>
                  <a:pt x="95250" y="15999"/>
                  <a:pt x="79251" y="0"/>
                  <a:pt x="59531" y="0"/>
                </a:cubicBezTo>
                <a:close/>
                <a:moveTo>
                  <a:pt x="83344" y="136922"/>
                </a:moveTo>
                <a:cubicBezTo>
                  <a:pt x="83344" y="150056"/>
                  <a:pt x="72665" y="160734"/>
                  <a:pt x="59531" y="160734"/>
                </a:cubicBezTo>
                <a:cubicBezTo>
                  <a:pt x="46397" y="160734"/>
                  <a:pt x="35719" y="150056"/>
                  <a:pt x="35719" y="136922"/>
                </a:cubicBezTo>
                <a:cubicBezTo>
                  <a:pt x="35719" y="126913"/>
                  <a:pt x="41858" y="118356"/>
                  <a:pt x="50602" y="114858"/>
                </a:cubicBezTo>
                <a:lnTo>
                  <a:pt x="50602" y="80367"/>
                </a:lnTo>
                <a:cubicBezTo>
                  <a:pt x="50602" y="75419"/>
                  <a:pt x="54583" y="71438"/>
                  <a:pt x="59531" y="71438"/>
                </a:cubicBezTo>
                <a:cubicBezTo>
                  <a:pt x="64480" y="71438"/>
                  <a:pt x="68461" y="75419"/>
                  <a:pt x="68461" y="80367"/>
                </a:cubicBezTo>
                <a:lnTo>
                  <a:pt x="68461" y="114858"/>
                </a:lnTo>
                <a:cubicBezTo>
                  <a:pt x="77205" y="118393"/>
                  <a:pt x="83344" y="126950"/>
                  <a:pt x="83344" y="136922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40" name="Text 38"/>
          <p:cNvSpPr/>
          <p:nvPr/>
        </p:nvSpPr>
        <p:spPr>
          <a:xfrm>
            <a:off x="6696075" y="1676400"/>
            <a:ext cx="501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Intensity Scoring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00800" y="209550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Emotional intensity measured on a scale of 0-100: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00800" y="2476500"/>
            <a:ext cx="742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(0-30)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856239" y="2476500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Mild concern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00800" y="2705100"/>
            <a:ext cx="5219700" cy="11430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45" name="Shape 43"/>
          <p:cNvSpPr/>
          <p:nvPr/>
        </p:nvSpPr>
        <p:spPr>
          <a:xfrm>
            <a:off x="6400800" y="2705100"/>
            <a:ext cx="1562100" cy="114300"/>
          </a:xfrm>
          <a:prstGeom prst="roundRect">
            <a:avLst>
              <a:gd name="adj" fmla="val 50000"/>
            </a:avLst>
          </a:prstGeom>
          <a:solidFill>
            <a:srgbClr val="00C950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2933700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 (31-70)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715387" y="2933700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Moderate issue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00800" y="3162300"/>
            <a:ext cx="5219700" cy="11430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49" name="Shape 47"/>
          <p:cNvSpPr/>
          <p:nvPr/>
        </p:nvSpPr>
        <p:spPr>
          <a:xfrm>
            <a:off x="6400800" y="3162300"/>
            <a:ext cx="3657600" cy="114300"/>
          </a:xfrm>
          <a:prstGeom prst="roundRect">
            <a:avLst>
              <a:gd name="adj" fmla="val 50000"/>
            </a:avLst>
          </a:prstGeom>
          <a:solidFill>
            <a:srgbClr val="F0B100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0" y="33909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(71-100)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668238" y="3390900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situation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400800" y="3619500"/>
            <a:ext cx="5219700" cy="11430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53" name="Shape 51"/>
          <p:cNvSpPr/>
          <p:nvPr/>
        </p:nvSpPr>
        <p:spPr>
          <a:xfrm>
            <a:off x="6400800" y="3619500"/>
            <a:ext cx="5219700" cy="114300"/>
          </a:xfrm>
          <a:prstGeom prst="roundRect">
            <a:avLst>
              <a:gd name="adj" fmla="val 50000"/>
            </a:avLst>
          </a:prstGeom>
          <a:solidFill>
            <a:srgbClr val="FB2C36"/>
          </a:solidFill>
          <a:ln/>
        </p:spPr>
      </p:sp>
      <p:sp>
        <p:nvSpPr>
          <p:cNvPr id="54" name="Shape 52"/>
          <p:cNvSpPr/>
          <p:nvPr/>
        </p:nvSpPr>
        <p:spPr>
          <a:xfrm>
            <a:off x="6210300" y="4076700"/>
            <a:ext cx="5600700" cy="2209800"/>
          </a:xfrm>
          <a:prstGeom prst="roundRect">
            <a:avLst>
              <a:gd name="adj" fmla="val 3448"/>
            </a:avLst>
          </a:prstGeom>
          <a:solidFill>
            <a:srgbClr val="2C3E50"/>
          </a:solidFill>
          <a:ln/>
        </p:spPr>
      </p:sp>
      <p:sp>
        <p:nvSpPr>
          <p:cNvPr id="55" name="Shape 53"/>
          <p:cNvSpPr/>
          <p:nvPr/>
        </p:nvSpPr>
        <p:spPr>
          <a:xfrm>
            <a:off x="6400800" y="4297682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6696075" y="4267200"/>
            <a:ext cx="501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Approach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400800" y="4648200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Combines rule-based pattern matching with machine learning models for robust analysis: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429375" y="52959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6667500" y="5257800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Rule-based keyword detection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429375" y="56007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667500" y="5562600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ML-based context understanding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429375" y="5905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6667500" y="5867400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Ensemble method for accuracy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2980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GENERATION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Response 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prstGeom prst="roundRect">
            <a:avLst>
              <a:gd name="adj" fmla="val 0"/>
            </a:avLst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47800"/>
            <a:ext cx="5581650" cy="2038350"/>
          </a:xfrm>
          <a:custGeom>
            <a:avLst/>
            <a:gdLst/>
            <a:ahLst/>
            <a:cxnLst/>
            <a:rect l="l" t="t" r="r" b="b"/>
            <a:pathLst>
              <a:path w="5581650" h="203835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962150"/>
                </a:lnTo>
                <a:cubicBezTo>
                  <a:pt x="5581650" y="2004206"/>
                  <a:pt x="5547506" y="2038350"/>
                  <a:pt x="5505450" y="2038350"/>
                </a:cubicBezTo>
                <a:lnTo>
                  <a:pt x="38100" y="2038350"/>
                </a:lnTo>
                <a:cubicBezTo>
                  <a:pt x="17072" y="2038350"/>
                  <a:pt x="0" y="2021278"/>
                  <a:pt x="0" y="2000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447800"/>
            <a:ext cx="38100" cy="2038350"/>
          </a:xfrm>
          <a:custGeom>
            <a:avLst/>
            <a:gdLst/>
            <a:ahLst/>
            <a:cxnLst/>
            <a:rect l="l" t="t" r="r" b="b"/>
            <a:pathLst>
              <a:path w="38100" h="2038350">
                <a:moveTo>
                  <a:pt x="38100" y="0"/>
                </a:moveTo>
                <a:lnTo>
                  <a:pt x="38100" y="0"/>
                </a:lnTo>
                <a:lnTo>
                  <a:pt x="38100" y="2038350"/>
                </a:lnTo>
                <a:lnTo>
                  <a:pt x="38100" y="2038350"/>
                </a:lnTo>
                <a:cubicBezTo>
                  <a:pt x="17072" y="2038350"/>
                  <a:pt x="0" y="2021278"/>
                  <a:pt x="0" y="2000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7" name="Shape 5"/>
          <p:cNvSpPr/>
          <p:nvPr/>
        </p:nvSpPr>
        <p:spPr>
          <a:xfrm>
            <a:off x="633413" y="166878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270" y="4539"/>
                </a:moveTo>
                <a:lnTo>
                  <a:pt x="115453" y="37356"/>
                </a:lnTo>
                <a:lnTo>
                  <a:pt x="153144" y="75047"/>
                </a:lnTo>
                <a:lnTo>
                  <a:pt x="185961" y="42230"/>
                </a:lnTo>
                <a:cubicBezTo>
                  <a:pt x="188863" y="39291"/>
                  <a:pt x="190500" y="35347"/>
                  <a:pt x="190500" y="31254"/>
                </a:cubicBezTo>
                <a:cubicBezTo>
                  <a:pt x="190500" y="27161"/>
                  <a:pt x="188863" y="23217"/>
                  <a:pt x="185961" y="20278"/>
                </a:cubicBezTo>
                <a:lnTo>
                  <a:pt x="170222" y="4539"/>
                </a:lnTo>
                <a:cubicBezTo>
                  <a:pt x="167283" y="1637"/>
                  <a:pt x="163339" y="0"/>
                  <a:pt x="159246" y="0"/>
                </a:cubicBezTo>
                <a:cubicBezTo>
                  <a:pt x="155153" y="0"/>
                  <a:pt x="151209" y="1637"/>
                  <a:pt x="148270" y="4539"/>
                </a:cubicBezTo>
                <a:close/>
                <a:moveTo>
                  <a:pt x="102840" y="49969"/>
                </a:moveTo>
                <a:lnTo>
                  <a:pt x="4539" y="148270"/>
                </a:lnTo>
                <a:cubicBezTo>
                  <a:pt x="1637" y="151209"/>
                  <a:pt x="0" y="155153"/>
                  <a:pt x="0" y="159246"/>
                </a:cubicBezTo>
                <a:cubicBezTo>
                  <a:pt x="0" y="163339"/>
                  <a:pt x="1637" y="167283"/>
                  <a:pt x="4539" y="170222"/>
                </a:cubicBezTo>
                <a:lnTo>
                  <a:pt x="20278" y="185961"/>
                </a:lnTo>
                <a:cubicBezTo>
                  <a:pt x="23217" y="188863"/>
                  <a:pt x="27161" y="190500"/>
                  <a:pt x="31254" y="190500"/>
                </a:cubicBezTo>
                <a:cubicBezTo>
                  <a:pt x="35347" y="190500"/>
                  <a:pt x="39291" y="188863"/>
                  <a:pt x="42230" y="185961"/>
                </a:cubicBezTo>
                <a:lnTo>
                  <a:pt x="140531" y="87660"/>
                </a:lnTo>
                <a:lnTo>
                  <a:pt x="102840" y="49969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8" name="Text 6"/>
          <p:cNvSpPr/>
          <p:nvPr/>
        </p:nvSpPr>
        <p:spPr>
          <a:xfrm>
            <a:off x="904875" y="1638300"/>
            <a:ext cx="498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Method: LLM APIs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019300"/>
            <a:ext cx="5257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available, the system leverages Large Language Model APIs to generate contextually rich, emotionally aware responses tailored to the detected sentiment and specific customer situation.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2876550"/>
            <a:ext cx="5181600" cy="419100"/>
          </a:xfrm>
          <a:prstGeom prst="roundRect">
            <a:avLst>
              <a:gd name="adj" fmla="val 9091"/>
            </a:avLst>
          </a:pr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723900" y="2990850"/>
            <a:ext cx="501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Advantages:</a:t>
            </a:r>
            <a:r>
              <a:rPr lang="en-US" sz="105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High-quality, nuanced responses with natural language understanding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638550"/>
            <a:ext cx="5581650" cy="2038350"/>
          </a:xfrm>
          <a:custGeom>
            <a:avLst/>
            <a:gdLst/>
            <a:ahLst/>
            <a:cxnLst/>
            <a:rect l="l" t="t" r="r" b="b"/>
            <a:pathLst>
              <a:path w="5581650" h="203835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962150"/>
                </a:lnTo>
                <a:cubicBezTo>
                  <a:pt x="5581650" y="2004206"/>
                  <a:pt x="5547506" y="2038350"/>
                  <a:pt x="5505450" y="2038350"/>
                </a:cubicBezTo>
                <a:lnTo>
                  <a:pt x="38100" y="2038350"/>
                </a:lnTo>
                <a:cubicBezTo>
                  <a:pt x="17072" y="2038350"/>
                  <a:pt x="0" y="2021278"/>
                  <a:pt x="0" y="2000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00050" y="3638550"/>
            <a:ext cx="38100" cy="2038350"/>
          </a:xfrm>
          <a:custGeom>
            <a:avLst/>
            <a:gdLst/>
            <a:ahLst/>
            <a:cxnLst/>
            <a:rect l="l" t="t" r="r" b="b"/>
            <a:pathLst>
              <a:path w="38100" h="2038350">
                <a:moveTo>
                  <a:pt x="38100" y="0"/>
                </a:moveTo>
                <a:lnTo>
                  <a:pt x="38100" y="0"/>
                </a:lnTo>
                <a:lnTo>
                  <a:pt x="38100" y="2038350"/>
                </a:lnTo>
                <a:lnTo>
                  <a:pt x="38100" y="2038350"/>
                </a:lnTo>
                <a:cubicBezTo>
                  <a:pt x="17072" y="2038350"/>
                  <a:pt x="0" y="2021278"/>
                  <a:pt x="0" y="2000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4" name="Shape 12"/>
          <p:cNvSpPr/>
          <p:nvPr/>
        </p:nvSpPr>
        <p:spPr>
          <a:xfrm>
            <a:off x="633413" y="385953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5" name="Text 13"/>
          <p:cNvSpPr/>
          <p:nvPr/>
        </p:nvSpPr>
        <p:spPr>
          <a:xfrm>
            <a:off x="904875" y="3829050"/>
            <a:ext cx="498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Fallback: Template-Based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4210050"/>
            <a:ext cx="5257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LLM APIs are unavailable or for common scenarios, the system provides reliable template-based responses that maintain quality and consistency.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9600" y="5067300"/>
            <a:ext cx="5181600" cy="419100"/>
          </a:xfrm>
          <a:prstGeom prst="roundRect">
            <a:avLst>
              <a:gd name="adj" fmla="val 9091"/>
            </a:avLst>
          </a:prstGeom>
          <a:solidFill>
            <a:srgbClr val="F8F9FA"/>
          </a:solidFill>
          <a:ln/>
        </p:spPr>
      </p:sp>
      <p:sp>
        <p:nvSpPr>
          <p:cNvPr id="18" name="Text 16"/>
          <p:cNvSpPr/>
          <p:nvPr/>
        </p:nvSpPr>
        <p:spPr>
          <a:xfrm>
            <a:off x="723900" y="5181600"/>
            <a:ext cx="501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Advantages:</a:t>
            </a:r>
            <a:r>
              <a:rPr lang="en-US" sz="105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Guaranteed availability, faster response times, predictable quality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0300" y="1447800"/>
            <a:ext cx="56007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24613" y="166878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59" y="53578"/>
                </a:moveTo>
                <a:cubicBezTo>
                  <a:pt x="27716" y="53578"/>
                  <a:pt x="35719" y="45576"/>
                  <a:pt x="35719" y="35719"/>
                </a:cubicBezTo>
                <a:cubicBezTo>
                  <a:pt x="35719" y="25862"/>
                  <a:pt x="27716" y="17859"/>
                  <a:pt x="17859" y="17859"/>
                </a:cubicBezTo>
                <a:cubicBezTo>
                  <a:pt x="8003" y="17859"/>
                  <a:pt x="0" y="25862"/>
                  <a:pt x="0" y="35719"/>
                </a:cubicBezTo>
                <a:cubicBezTo>
                  <a:pt x="0" y="45576"/>
                  <a:pt x="8003" y="53578"/>
                  <a:pt x="17859" y="53578"/>
                </a:cubicBezTo>
                <a:close/>
                <a:moveTo>
                  <a:pt x="71438" y="23812"/>
                </a:moveTo>
                <a:cubicBezTo>
                  <a:pt x="64852" y="23812"/>
                  <a:pt x="59531" y="29133"/>
                  <a:pt x="59531" y="35719"/>
                </a:cubicBezTo>
                <a:cubicBezTo>
                  <a:pt x="59531" y="42304"/>
                  <a:pt x="64852" y="47625"/>
                  <a:pt x="71438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71438" y="23812"/>
                </a:lnTo>
                <a:close/>
                <a:moveTo>
                  <a:pt x="71438" y="83344"/>
                </a:moveTo>
                <a:cubicBezTo>
                  <a:pt x="64852" y="83344"/>
                  <a:pt x="59531" y="88664"/>
                  <a:pt x="59531" y="95250"/>
                </a:cubicBezTo>
                <a:cubicBezTo>
                  <a:pt x="59531" y="101836"/>
                  <a:pt x="64852" y="107156"/>
                  <a:pt x="71438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71438" y="83344"/>
                </a:lnTo>
                <a:close/>
                <a:moveTo>
                  <a:pt x="71438" y="142875"/>
                </a:moveTo>
                <a:cubicBezTo>
                  <a:pt x="64852" y="142875"/>
                  <a:pt x="59531" y="148196"/>
                  <a:pt x="59531" y="154781"/>
                </a:cubicBezTo>
                <a:cubicBezTo>
                  <a:pt x="59531" y="161367"/>
                  <a:pt x="64852" y="166688"/>
                  <a:pt x="71438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71438" y="142875"/>
                </a:lnTo>
                <a:close/>
                <a:moveTo>
                  <a:pt x="17859" y="172641"/>
                </a:moveTo>
                <a:cubicBezTo>
                  <a:pt x="27716" y="172641"/>
                  <a:pt x="35719" y="164638"/>
                  <a:pt x="35719" y="154781"/>
                </a:cubicBezTo>
                <a:cubicBezTo>
                  <a:pt x="35719" y="144924"/>
                  <a:pt x="27716" y="136922"/>
                  <a:pt x="17859" y="136922"/>
                </a:cubicBezTo>
                <a:cubicBezTo>
                  <a:pt x="8003" y="136922"/>
                  <a:pt x="0" y="144924"/>
                  <a:pt x="0" y="154781"/>
                </a:cubicBezTo>
                <a:cubicBezTo>
                  <a:pt x="0" y="164638"/>
                  <a:pt x="8003" y="172641"/>
                  <a:pt x="17859" y="172641"/>
                </a:cubicBezTo>
                <a:close/>
                <a:moveTo>
                  <a:pt x="35719" y="95250"/>
                </a:moveTo>
                <a:cubicBezTo>
                  <a:pt x="35719" y="85393"/>
                  <a:pt x="27716" y="77391"/>
                  <a:pt x="17859" y="77391"/>
                </a:cubicBezTo>
                <a:cubicBezTo>
                  <a:pt x="8003" y="77391"/>
                  <a:pt x="0" y="85393"/>
                  <a:pt x="0" y="95250"/>
                </a:cubicBezTo>
                <a:cubicBezTo>
                  <a:pt x="0" y="105107"/>
                  <a:pt x="8003" y="113109"/>
                  <a:pt x="17859" y="113109"/>
                </a:cubicBezTo>
                <a:cubicBezTo>
                  <a:pt x="27716" y="113109"/>
                  <a:pt x="35719" y="105107"/>
                  <a:pt x="35719" y="9525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21" name="Text 19"/>
          <p:cNvSpPr/>
          <p:nvPr/>
        </p:nvSpPr>
        <p:spPr>
          <a:xfrm>
            <a:off x="6696075" y="1638300"/>
            <a:ext cx="501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Formats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19850" y="2057400"/>
            <a:ext cx="38100" cy="952500"/>
          </a:xfrm>
          <a:prstGeom prst="roundRect">
            <a:avLst>
              <a:gd name="adj" fmla="val 0"/>
            </a:avLst>
          </a:prstGeom>
          <a:solidFill>
            <a:srgbClr val="2980B9"/>
          </a:solidFill>
          <a:ln/>
        </p:spPr>
      </p:sp>
      <p:sp>
        <p:nvSpPr>
          <p:cNvPr id="23" name="Shape 21"/>
          <p:cNvSpPr/>
          <p:nvPr/>
        </p:nvSpPr>
        <p:spPr>
          <a:xfrm>
            <a:off x="6629400" y="21907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2133600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Response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91300" y="2476500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response addressing all aspects of the customer's message with appropriate empathy and solution-oriented content.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19850" y="3124200"/>
            <a:ext cx="38100" cy="952500"/>
          </a:xfrm>
          <a:prstGeom prst="roundRect">
            <a:avLst>
              <a:gd name="adj" fmla="val 0"/>
            </a:avLst>
          </a:prstGeom>
          <a:solidFill>
            <a:srgbClr val="2C3E50"/>
          </a:solidFill>
          <a:ln/>
        </p:spPr>
      </p:sp>
      <p:sp>
        <p:nvSpPr>
          <p:cNvPr id="27" name="Shape 25"/>
          <p:cNvSpPr/>
          <p:nvPr/>
        </p:nvSpPr>
        <p:spPr>
          <a:xfrm>
            <a:off x="6610350" y="32575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0820" y="2084"/>
                </a:moveTo>
                <a:cubicBezTo>
                  <a:pt x="133618" y="-714"/>
                  <a:pt x="138142" y="-714"/>
                  <a:pt x="140910" y="2084"/>
                </a:cubicBezTo>
                <a:lnTo>
                  <a:pt x="150435" y="11609"/>
                </a:lnTo>
                <a:cubicBezTo>
                  <a:pt x="153233" y="14407"/>
                  <a:pt x="153233" y="18931"/>
                  <a:pt x="150435" y="21699"/>
                </a:cubicBezTo>
                <a:lnTo>
                  <a:pt x="124539" y="47595"/>
                </a:lnTo>
                <a:lnTo>
                  <a:pt x="136148" y="59204"/>
                </a:lnTo>
                <a:cubicBezTo>
                  <a:pt x="138202" y="61258"/>
                  <a:pt x="138797" y="64324"/>
                  <a:pt x="137696" y="67002"/>
                </a:cubicBezTo>
                <a:cubicBezTo>
                  <a:pt x="136594" y="69681"/>
                  <a:pt x="134005" y="71438"/>
                  <a:pt x="131118" y="71438"/>
                </a:cubicBezTo>
                <a:lnTo>
                  <a:pt x="88255" y="71438"/>
                </a:lnTo>
                <a:cubicBezTo>
                  <a:pt x="84296" y="71438"/>
                  <a:pt x="81111" y="68253"/>
                  <a:pt x="81111" y="64294"/>
                </a:cubicBezTo>
                <a:lnTo>
                  <a:pt x="81111" y="21431"/>
                </a:lnTo>
                <a:cubicBezTo>
                  <a:pt x="81111" y="18544"/>
                  <a:pt x="82838" y="15925"/>
                  <a:pt x="85517" y="14823"/>
                </a:cubicBezTo>
                <a:cubicBezTo>
                  <a:pt x="88196" y="13722"/>
                  <a:pt x="91261" y="14317"/>
                  <a:pt x="93315" y="16371"/>
                </a:cubicBezTo>
                <a:lnTo>
                  <a:pt x="104924" y="27980"/>
                </a:lnTo>
                <a:lnTo>
                  <a:pt x="130820" y="2084"/>
                </a:lnTo>
                <a:close/>
                <a:moveTo>
                  <a:pt x="21580" y="80962"/>
                </a:moveTo>
                <a:lnTo>
                  <a:pt x="64443" y="80962"/>
                </a:lnTo>
                <a:cubicBezTo>
                  <a:pt x="68401" y="80962"/>
                  <a:pt x="71586" y="84147"/>
                  <a:pt x="71586" y="88106"/>
                </a:cubicBezTo>
                <a:lnTo>
                  <a:pt x="71586" y="130969"/>
                </a:lnTo>
                <a:cubicBezTo>
                  <a:pt x="71586" y="133856"/>
                  <a:pt x="69860" y="136475"/>
                  <a:pt x="67181" y="137577"/>
                </a:cubicBezTo>
                <a:cubicBezTo>
                  <a:pt x="64502" y="138678"/>
                  <a:pt x="61436" y="138083"/>
                  <a:pt x="59382" y="136029"/>
                </a:cubicBezTo>
                <a:lnTo>
                  <a:pt x="47774" y="124420"/>
                </a:lnTo>
                <a:lnTo>
                  <a:pt x="21878" y="150316"/>
                </a:lnTo>
                <a:cubicBezTo>
                  <a:pt x="19080" y="153114"/>
                  <a:pt x="14555" y="153114"/>
                  <a:pt x="11787" y="150316"/>
                </a:cubicBezTo>
                <a:lnTo>
                  <a:pt x="2262" y="140791"/>
                </a:lnTo>
                <a:cubicBezTo>
                  <a:pt x="-536" y="137993"/>
                  <a:pt x="-536" y="133469"/>
                  <a:pt x="2262" y="130701"/>
                </a:cubicBezTo>
                <a:lnTo>
                  <a:pt x="28158" y="104805"/>
                </a:lnTo>
                <a:lnTo>
                  <a:pt x="16550" y="93196"/>
                </a:lnTo>
                <a:cubicBezTo>
                  <a:pt x="14496" y="91142"/>
                  <a:pt x="13901" y="88076"/>
                  <a:pt x="15002" y="85398"/>
                </a:cubicBezTo>
                <a:cubicBezTo>
                  <a:pt x="16103" y="82719"/>
                  <a:pt x="18693" y="80962"/>
                  <a:pt x="21580" y="80962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3200400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Short Response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91300" y="3543300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Concise acknowledgment or quick answer for straightforward queries requiring minimal explanation.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19850" y="4191000"/>
            <a:ext cx="38100" cy="952500"/>
          </a:xfrm>
          <a:prstGeom prst="roundRect">
            <a:avLst>
              <a:gd name="adj" fmla="val 0"/>
            </a:avLst>
          </a:prstGeom>
          <a:solidFill>
            <a:srgbClr val="2980B9"/>
          </a:solidFill>
          <a:ln/>
        </p:spPr>
      </p:sp>
      <p:sp>
        <p:nvSpPr>
          <p:cNvPr id="31" name="Shape 29"/>
          <p:cNvSpPr/>
          <p:nvPr/>
        </p:nvSpPr>
        <p:spPr>
          <a:xfrm>
            <a:off x="6610350" y="4324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2394" y="0"/>
                </a:moveTo>
                <a:lnTo>
                  <a:pt x="145256" y="0"/>
                </a:lnTo>
                <a:cubicBezTo>
                  <a:pt x="149215" y="0"/>
                  <a:pt x="152400" y="3185"/>
                  <a:pt x="152400" y="7144"/>
                </a:cubicBezTo>
                <a:lnTo>
                  <a:pt x="152400" y="50006"/>
                </a:lnTo>
                <a:cubicBezTo>
                  <a:pt x="152400" y="52894"/>
                  <a:pt x="150674" y="55513"/>
                  <a:pt x="147995" y="56614"/>
                </a:cubicBezTo>
                <a:cubicBezTo>
                  <a:pt x="145316" y="57716"/>
                  <a:pt x="142250" y="57120"/>
                  <a:pt x="140196" y="55066"/>
                </a:cubicBezTo>
                <a:lnTo>
                  <a:pt x="128588" y="43458"/>
                </a:lnTo>
                <a:lnTo>
                  <a:pt x="102691" y="69354"/>
                </a:lnTo>
                <a:cubicBezTo>
                  <a:pt x="99893" y="72152"/>
                  <a:pt x="95369" y="72152"/>
                  <a:pt x="92601" y="69354"/>
                </a:cubicBezTo>
                <a:lnTo>
                  <a:pt x="83076" y="59829"/>
                </a:lnTo>
                <a:cubicBezTo>
                  <a:pt x="80278" y="57031"/>
                  <a:pt x="80278" y="52507"/>
                  <a:pt x="83076" y="49738"/>
                </a:cubicBezTo>
                <a:lnTo>
                  <a:pt x="108972" y="23842"/>
                </a:lnTo>
                <a:lnTo>
                  <a:pt x="97363" y="12234"/>
                </a:lnTo>
                <a:cubicBezTo>
                  <a:pt x="95310" y="10180"/>
                  <a:pt x="94714" y="7114"/>
                  <a:pt x="95816" y="4435"/>
                </a:cubicBezTo>
                <a:cubicBezTo>
                  <a:pt x="96917" y="1756"/>
                  <a:pt x="99506" y="0"/>
                  <a:pt x="102394" y="0"/>
                </a:cubicBezTo>
                <a:close/>
                <a:moveTo>
                  <a:pt x="50006" y="152400"/>
                </a:moveTo>
                <a:lnTo>
                  <a:pt x="7144" y="152400"/>
                </a:lnTo>
                <a:cubicBezTo>
                  <a:pt x="3185" y="152400"/>
                  <a:pt x="0" y="149215"/>
                  <a:pt x="0" y="145256"/>
                </a:cubicBezTo>
                <a:lnTo>
                  <a:pt x="0" y="102394"/>
                </a:lnTo>
                <a:cubicBezTo>
                  <a:pt x="0" y="99506"/>
                  <a:pt x="1726" y="96887"/>
                  <a:pt x="4405" y="95786"/>
                </a:cubicBezTo>
                <a:cubicBezTo>
                  <a:pt x="7084" y="94684"/>
                  <a:pt x="10150" y="95310"/>
                  <a:pt x="12204" y="97334"/>
                </a:cubicBezTo>
                <a:lnTo>
                  <a:pt x="23813" y="108942"/>
                </a:lnTo>
                <a:lnTo>
                  <a:pt x="49709" y="83046"/>
                </a:lnTo>
                <a:cubicBezTo>
                  <a:pt x="52507" y="80248"/>
                  <a:pt x="57031" y="80248"/>
                  <a:pt x="59799" y="83046"/>
                </a:cubicBezTo>
                <a:lnTo>
                  <a:pt x="69324" y="92571"/>
                </a:lnTo>
                <a:cubicBezTo>
                  <a:pt x="72122" y="95369"/>
                  <a:pt x="72122" y="99893"/>
                  <a:pt x="69324" y="102662"/>
                </a:cubicBezTo>
                <a:lnTo>
                  <a:pt x="43428" y="128558"/>
                </a:lnTo>
                <a:lnTo>
                  <a:pt x="55037" y="140166"/>
                </a:lnTo>
                <a:cubicBezTo>
                  <a:pt x="57090" y="142220"/>
                  <a:pt x="57686" y="145286"/>
                  <a:pt x="56584" y="147965"/>
                </a:cubicBezTo>
                <a:cubicBezTo>
                  <a:pt x="55483" y="150644"/>
                  <a:pt x="52894" y="152400"/>
                  <a:pt x="50006" y="15240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4267200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Detailed Response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91300" y="4610100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In-depth explanation with step-by-step guidance for complex issues requiring thorough clarification.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19850" y="5257800"/>
            <a:ext cx="38100" cy="952500"/>
          </a:xfrm>
          <a:prstGeom prst="roundRect">
            <a:avLst>
              <a:gd name="adj" fmla="val 0"/>
            </a:avLst>
          </a:prstGeom>
          <a:solidFill>
            <a:srgbClr val="2C3E50"/>
          </a:solidFill>
          <a:ln/>
        </p:spPr>
      </p:sp>
      <p:sp>
        <p:nvSpPr>
          <p:cNvPr id="35" name="Shape 33"/>
          <p:cNvSpPr/>
          <p:nvPr/>
        </p:nvSpPr>
        <p:spPr>
          <a:xfrm>
            <a:off x="6600825" y="53911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3225" y="9227"/>
                </a:moveTo>
                <a:cubicBezTo>
                  <a:pt x="79028" y="3423"/>
                  <a:pt x="72301" y="0"/>
                  <a:pt x="65157" y="0"/>
                </a:cubicBezTo>
                <a:cubicBezTo>
                  <a:pt x="52834" y="0"/>
                  <a:pt x="42863" y="9971"/>
                  <a:pt x="42863" y="22294"/>
                </a:cubicBezTo>
                <a:lnTo>
                  <a:pt x="42863" y="23009"/>
                </a:lnTo>
                <a:cubicBezTo>
                  <a:pt x="42863" y="42178"/>
                  <a:pt x="67270" y="62716"/>
                  <a:pt x="79236" y="71616"/>
                </a:cubicBezTo>
                <a:cubicBezTo>
                  <a:pt x="83106" y="74503"/>
                  <a:pt x="88315" y="74503"/>
                  <a:pt x="92184" y="71616"/>
                </a:cubicBezTo>
                <a:cubicBezTo>
                  <a:pt x="104150" y="62686"/>
                  <a:pt x="128558" y="42178"/>
                  <a:pt x="128558" y="23009"/>
                </a:cubicBezTo>
                <a:lnTo>
                  <a:pt x="128558" y="22294"/>
                </a:lnTo>
                <a:cubicBezTo>
                  <a:pt x="128558" y="9971"/>
                  <a:pt x="118586" y="0"/>
                  <a:pt x="106263" y="0"/>
                </a:cubicBezTo>
                <a:cubicBezTo>
                  <a:pt x="99120" y="0"/>
                  <a:pt x="92393" y="3423"/>
                  <a:pt x="88196" y="9227"/>
                </a:cubicBezTo>
                <a:lnTo>
                  <a:pt x="85725" y="12710"/>
                </a:lnTo>
                <a:lnTo>
                  <a:pt x="83225" y="9227"/>
                </a:lnTo>
                <a:close/>
                <a:moveTo>
                  <a:pt x="32534" y="101650"/>
                </a:moveTo>
                <a:lnTo>
                  <a:pt x="19854" y="114300"/>
                </a:lnTo>
                <a:lnTo>
                  <a:pt x="9525" y="114300"/>
                </a:lnTo>
                <a:cubicBezTo>
                  <a:pt x="4256" y="114300"/>
                  <a:pt x="0" y="118556"/>
                  <a:pt x="0" y="123825"/>
                </a:cubicBezTo>
                <a:lnTo>
                  <a:pt x="0" y="142875"/>
                </a:lnTo>
                <a:cubicBezTo>
                  <a:pt x="0" y="148144"/>
                  <a:pt x="4256" y="152400"/>
                  <a:pt x="9525" y="152400"/>
                </a:cubicBezTo>
                <a:lnTo>
                  <a:pt x="104924" y="152400"/>
                </a:lnTo>
                <a:cubicBezTo>
                  <a:pt x="113556" y="152400"/>
                  <a:pt x="121980" y="149632"/>
                  <a:pt x="128945" y="144512"/>
                </a:cubicBezTo>
                <a:lnTo>
                  <a:pt x="166628" y="116741"/>
                </a:lnTo>
                <a:cubicBezTo>
                  <a:pt x="171926" y="112841"/>
                  <a:pt x="173057" y="105400"/>
                  <a:pt x="169158" y="100102"/>
                </a:cubicBezTo>
                <a:cubicBezTo>
                  <a:pt x="165259" y="94804"/>
                  <a:pt x="157817" y="93672"/>
                  <a:pt x="152519" y="97572"/>
                </a:cubicBezTo>
                <a:lnTo>
                  <a:pt x="116860" y="123825"/>
                </a:lnTo>
                <a:lnTo>
                  <a:pt x="83344" y="123825"/>
                </a:lnTo>
                <a:cubicBezTo>
                  <a:pt x="79385" y="123825"/>
                  <a:pt x="76200" y="120640"/>
                  <a:pt x="76200" y="116681"/>
                </a:cubicBezTo>
                <a:cubicBezTo>
                  <a:pt x="76200" y="112722"/>
                  <a:pt x="79385" y="109537"/>
                  <a:pt x="83344" y="109537"/>
                </a:cubicBezTo>
                <a:lnTo>
                  <a:pt x="104775" y="109537"/>
                </a:lnTo>
                <a:cubicBezTo>
                  <a:pt x="110044" y="109537"/>
                  <a:pt x="114300" y="105281"/>
                  <a:pt x="114300" y="100013"/>
                </a:cubicBezTo>
                <a:cubicBezTo>
                  <a:pt x="114300" y="94744"/>
                  <a:pt x="110044" y="90488"/>
                  <a:pt x="104775" y="90488"/>
                </a:cubicBezTo>
                <a:lnTo>
                  <a:pt x="59472" y="90488"/>
                </a:lnTo>
                <a:cubicBezTo>
                  <a:pt x="49381" y="90488"/>
                  <a:pt x="39678" y="94506"/>
                  <a:pt x="32534" y="10165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5334000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De-escalation Response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91300" y="5676900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Specially crafted to calm frustrated customers, acknowledge concerns, and redirect toward constructive solutions.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780" y="361780"/>
            <a:ext cx="11540795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kern="0" spc="57" dirty="0">
                <a:solidFill>
                  <a:srgbClr val="2980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1780" y="651205"/>
            <a:ext cx="11631240" cy="36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4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Capabilities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1780" y="1121519"/>
            <a:ext cx="868273" cy="36178"/>
          </a:xfrm>
          <a:prstGeom prst="roundRect">
            <a:avLst>
              <a:gd name="adj" fmla="val 0"/>
            </a:avLst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361780" y="1465211"/>
            <a:ext cx="3699205" cy="1935525"/>
          </a:xfrm>
          <a:custGeom>
            <a:avLst/>
            <a:gdLst/>
            <a:ahLst/>
            <a:cxnLst/>
            <a:rect l="l" t="t" r="r" b="b"/>
            <a:pathLst>
              <a:path w="3699205" h="1935525">
                <a:moveTo>
                  <a:pt x="36195" y="0"/>
                </a:moveTo>
                <a:lnTo>
                  <a:pt x="3663061" y="0"/>
                </a:lnTo>
                <a:cubicBezTo>
                  <a:pt x="3683051" y="0"/>
                  <a:pt x="3699256" y="16205"/>
                  <a:pt x="3699256" y="36195"/>
                </a:cubicBezTo>
                <a:lnTo>
                  <a:pt x="3699256" y="1863217"/>
                </a:lnTo>
                <a:cubicBezTo>
                  <a:pt x="3699186" y="1903147"/>
                  <a:pt x="3666796" y="1935480"/>
                  <a:pt x="3626866" y="1935480"/>
                </a:cubicBezTo>
                <a:lnTo>
                  <a:pt x="72390" y="1935480"/>
                </a:lnTo>
                <a:cubicBezTo>
                  <a:pt x="32460" y="1935480"/>
                  <a:pt x="70" y="1903147"/>
                  <a:pt x="0" y="1863217"/>
                </a:cubicBezTo>
                <a:lnTo>
                  <a:pt x="0" y="36195"/>
                </a:lnTo>
                <a:cubicBezTo>
                  <a:pt x="0" y="16218"/>
                  <a:pt x="16218" y="0"/>
                  <a:pt x="3619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61780" y="1465211"/>
            <a:ext cx="3699205" cy="36178"/>
          </a:xfrm>
          <a:custGeom>
            <a:avLst/>
            <a:gdLst/>
            <a:ahLst/>
            <a:cxnLst/>
            <a:rect l="l" t="t" r="r" b="b"/>
            <a:pathLst>
              <a:path w="3699205" h="36178">
                <a:moveTo>
                  <a:pt x="36195" y="0"/>
                </a:moveTo>
                <a:lnTo>
                  <a:pt x="3663061" y="0"/>
                </a:lnTo>
                <a:cubicBezTo>
                  <a:pt x="3683051" y="0"/>
                  <a:pt x="3699256" y="16205"/>
                  <a:pt x="3699256" y="36195"/>
                </a:cubicBezTo>
                <a:lnTo>
                  <a:pt x="3699256" y="36195"/>
                </a:lnTo>
                <a:lnTo>
                  <a:pt x="0" y="36195"/>
                </a:lnTo>
                <a:lnTo>
                  <a:pt x="0" y="36195"/>
                </a:lnTo>
                <a:cubicBezTo>
                  <a:pt x="0" y="16218"/>
                  <a:pt x="16218" y="0"/>
                  <a:pt x="36195" y="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7" name="Shape 5"/>
          <p:cNvSpPr/>
          <p:nvPr/>
        </p:nvSpPr>
        <p:spPr>
          <a:xfrm>
            <a:off x="1922750" y="1664190"/>
            <a:ext cx="578849" cy="578849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8" name="Shape 6"/>
          <p:cNvSpPr/>
          <p:nvPr/>
        </p:nvSpPr>
        <p:spPr>
          <a:xfrm>
            <a:off x="2103640" y="1845080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102175" y="36927"/>
                </a:moveTo>
                <a:lnTo>
                  <a:pt x="108534" y="45703"/>
                </a:lnTo>
                <a:lnTo>
                  <a:pt x="114894" y="36927"/>
                </a:lnTo>
                <a:cubicBezTo>
                  <a:pt x="125493" y="22258"/>
                  <a:pt x="142536" y="13567"/>
                  <a:pt x="160639" y="13567"/>
                </a:cubicBezTo>
                <a:cubicBezTo>
                  <a:pt x="191800" y="13567"/>
                  <a:pt x="217068" y="38835"/>
                  <a:pt x="217068" y="69996"/>
                </a:cubicBezTo>
                <a:lnTo>
                  <a:pt x="217068" y="71098"/>
                </a:lnTo>
                <a:cubicBezTo>
                  <a:pt x="217068" y="118667"/>
                  <a:pt x="157756" y="173909"/>
                  <a:pt x="126807" y="197524"/>
                </a:cubicBezTo>
                <a:cubicBezTo>
                  <a:pt x="121550" y="201509"/>
                  <a:pt x="115106" y="203501"/>
                  <a:pt x="108534" y="203501"/>
                </a:cubicBezTo>
                <a:cubicBezTo>
                  <a:pt x="101963" y="203501"/>
                  <a:pt x="95476" y="201551"/>
                  <a:pt x="90261" y="197524"/>
                </a:cubicBezTo>
                <a:cubicBezTo>
                  <a:pt x="59312" y="173909"/>
                  <a:pt x="0" y="118667"/>
                  <a:pt x="0" y="71098"/>
                </a:cubicBezTo>
                <a:lnTo>
                  <a:pt x="0" y="69996"/>
                </a:lnTo>
                <a:cubicBezTo>
                  <a:pt x="0" y="38835"/>
                  <a:pt x="25268" y="13567"/>
                  <a:pt x="56429" y="13567"/>
                </a:cubicBezTo>
                <a:cubicBezTo>
                  <a:pt x="74532" y="13567"/>
                  <a:pt x="91576" y="22258"/>
                  <a:pt x="102175" y="369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01970" y="2387751"/>
            <a:ext cx="3418825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2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Emotion-Aware Generation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6493" y="2749531"/>
            <a:ext cx="3409780" cy="470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39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Generates responses that acknowledge and appropriately address detected customer emotions.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43458" y="1465211"/>
            <a:ext cx="3699205" cy="1935525"/>
          </a:xfrm>
          <a:custGeom>
            <a:avLst/>
            <a:gdLst/>
            <a:ahLst/>
            <a:cxnLst/>
            <a:rect l="l" t="t" r="r" b="b"/>
            <a:pathLst>
              <a:path w="3699205" h="1935525">
                <a:moveTo>
                  <a:pt x="36195" y="0"/>
                </a:moveTo>
                <a:lnTo>
                  <a:pt x="3663061" y="0"/>
                </a:lnTo>
                <a:cubicBezTo>
                  <a:pt x="3683051" y="0"/>
                  <a:pt x="3699256" y="16205"/>
                  <a:pt x="3699256" y="36195"/>
                </a:cubicBezTo>
                <a:lnTo>
                  <a:pt x="3699256" y="1863217"/>
                </a:lnTo>
                <a:cubicBezTo>
                  <a:pt x="3699186" y="1903147"/>
                  <a:pt x="3666796" y="1935480"/>
                  <a:pt x="3626866" y="1935480"/>
                </a:cubicBezTo>
                <a:lnTo>
                  <a:pt x="72390" y="1935480"/>
                </a:lnTo>
                <a:cubicBezTo>
                  <a:pt x="32460" y="1935480"/>
                  <a:pt x="70" y="1903147"/>
                  <a:pt x="0" y="1863217"/>
                </a:cubicBezTo>
                <a:lnTo>
                  <a:pt x="0" y="36195"/>
                </a:lnTo>
                <a:cubicBezTo>
                  <a:pt x="0" y="16218"/>
                  <a:pt x="16218" y="0"/>
                  <a:pt x="3619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243458" y="1465211"/>
            <a:ext cx="3699205" cy="36178"/>
          </a:xfrm>
          <a:custGeom>
            <a:avLst/>
            <a:gdLst/>
            <a:ahLst/>
            <a:cxnLst/>
            <a:rect l="l" t="t" r="r" b="b"/>
            <a:pathLst>
              <a:path w="3699205" h="36178">
                <a:moveTo>
                  <a:pt x="36195" y="0"/>
                </a:moveTo>
                <a:lnTo>
                  <a:pt x="3663061" y="0"/>
                </a:lnTo>
                <a:cubicBezTo>
                  <a:pt x="3683051" y="0"/>
                  <a:pt x="3699256" y="16205"/>
                  <a:pt x="3699256" y="36195"/>
                </a:cubicBezTo>
                <a:lnTo>
                  <a:pt x="3699256" y="36195"/>
                </a:lnTo>
                <a:lnTo>
                  <a:pt x="0" y="36195"/>
                </a:lnTo>
                <a:lnTo>
                  <a:pt x="0" y="36195"/>
                </a:lnTo>
                <a:cubicBezTo>
                  <a:pt x="0" y="16218"/>
                  <a:pt x="16218" y="0"/>
                  <a:pt x="36195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3" name="Shape 11"/>
          <p:cNvSpPr/>
          <p:nvPr/>
        </p:nvSpPr>
        <p:spPr>
          <a:xfrm>
            <a:off x="5804428" y="1664190"/>
            <a:ext cx="578849" cy="578849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/>
        </p:spPr>
      </p:sp>
      <p:sp>
        <p:nvSpPr>
          <p:cNvPr id="14" name="Shape 12"/>
          <p:cNvSpPr/>
          <p:nvPr/>
        </p:nvSpPr>
        <p:spPr>
          <a:xfrm>
            <a:off x="5971751" y="1845080"/>
            <a:ext cx="244202" cy="217068"/>
          </a:xfrm>
          <a:custGeom>
            <a:avLst/>
            <a:gdLst/>
            <a:ahLst/>
            <a:cxnLst/>
            <a:rect l="l" t="t" r="r" b="b"/>
            <a:pathLst>
              <a:path w="244202" h="217068">
                <a:moveTo>
                  <a:pt x="105142" y="37309"/>
                </a:moveTo>
                <a:lnTo>
                  <a:pt x="139059" y="37309"/>
                </a:lnTo>
                <a:lnTo>
                  <a:pt x="139059" y="57659"/>
                </a:lnTo>
                <a:lnTo>
                  <a:pt x="105142" y="57659"/>
                </a:lnTo>
                <a:lnTo>
                  <a:pt x="105142" y="37309"/>
                </a:lnTo>
                <a:close/>
                <a:moveTo>
                  <a:pt x="101751" y="13567"/>
                </a:moveTo>
                <a:cubicBezTo>
                  <a:pt x="90516" y="13567"/>
                  <a:pt x="81401" y="22682"/>
                  <a:pt x="81401" y="33917"/>
                </a:cubicBezTo>
                <a:lnTo>
                  <a:pt x="81401" y="61050"/>
                </a:lnTo>
                <a:cubicBezTo>
                  <a:pt x="81401" y="72285"/>
                  <a:pt x="90516" y="81401"/>
                  <a:pt x="101751" y="81401"/>
                </a:cubicBezTo>
                <a:lnTo>
                  <a:pt x="108534" y="81401"/>
                </a:lnTo>
                <a:lnTo>
                  <a:pt x="108534" y="94967"/>
                </a:lnTo>
                <a:lnTo>
                  <a:pt x="13567" y="94967"/>
                </a:lnTo>
                <a:cubicBezTo>
                  <a:pt x="6063" y="94967"/>
                  <a:pt x="0" y="101030"/>
                  <a:pt x="0" y="108534"/>
                </a:cubicBezTo>
                <a:cubicBezTo>
                  <a:pt x="0" y="116038"/>
                  <a:pt x="6063" y="122101"/>
                  <a:pt x="13567" y="122101"/>
                </a:cubicBezTo>
                <a:lnTo>
                  <a:pt x="54267" y="122101"/>
                </a:lnTo>
                <a:lnTo>
                  <a:pt x="54267" y="135668"/>
                </a:lnTo>
                <a:lnTo>
                  <a:pt x="47484" y="135668"/>
                </a:lnTo>
                <a:cubicBezTo>
                  <a:pt x="36249" y="135668"/>
                  <a:pt x="27134" y="144783"/>
                  <a:pt x="27134" y="156018"/>
                </a:cubicBezTo>
                <a:lnTo>
                  <a:pt x="27134" y="183151"/>
                </a:lnTo>
                <a:cubicBezTo>
                  <a:pt x="27134" y="194386"/>
                  <a:pt x="36249" y="203501"/>
                  <a:pt x="47484" y="203501"/>
                </a:cubicBezTo>
                <a:lnTo>
                  <a:pt x="88184" y="203501"/>
                </a:lnTo>
                <a:cubicBezTo>
                  <a:pt x="99419" y="203501"/>
                  <a:pt x="108534" y="194386"/>
                  <a:pt x="108534" y="183151"/>
                </a:cubicBezTo>
                <a:lnTo>
                  <a:pt x="108534" y="156018"/>
                </a:lnTo>
                <a:cubicBezTo>
                  <a:pt x="108534" y="144783"/>
                  <a:pt x="99419" y="135668"/>
                  <a:pt x="88184" y="135668"/>
                </a:cubicBezTo>
                <a:lnTo>
                  <a:pt x="81401" y="135668"/>
                </a:lnTo>
                <a:lnTo>
                  <a:pt x="81401" y="122101"/>
                </a:lnTo>
                <a:lnTo>
                  <a:pt x="162801" y="122101"/>
                </a:lnTo>
                <a:lnTo>
                  <a:pt x="162801" y="135668"/>
                </a:lnTo>
                <a:lnTo>
                  <a:pt x="156018" y="135668"/>
                </a:lnTo>
                <a:cubicBezTo>
                  <a:pt x="144783" y="135668"/>
                  <a:pt x="135668" y="144783"/>
                  <a:pt x="135668" y="156018"/>
                </a:cubicBezTo>
                <a:lnTo>
                  <a:pt x="135668" y="183151"/>
                </a:lnTo>
                <a:cubicBezTo>
                  <a:pt x="135668" y="194386"/>
                  <a:pt x="144783" y="203501"/>
                  <a:pt x="156018" y="203501"/>
                </a:cubicBezTo>
                <a:lnTo>
                  <a:pt x="196718" y="203501"/>
                </a:lnTo>
                <a:cubicBezTo>
                  <a:pt x="207953" y="203501"/>
                  <a:pt x="217068" y="194386"/>
                  <a:pt x="217068" y="183151"/>
                </a:cubicBezTo>
                <a:lnTo>
                  <a:pt x="217068" y="156018"/>
                </a:lnTo>
                <a:cubicBezTo>
                  <a:pt x="217068" y="144783"/>
                  <a:pt x="207953" y="135668"/>
                  <a:pt x="196718" y="135668"/>
                </a:cubicBezTo>
                <a:lnTo>
                  <a:pt x="189935" y="135668"/>
                </a:lnTo>
                <a:lnTo>
                  <a:pt x="189935" y="122101"/>
                </a:lnTo>
                <a:lnTo>
                  <a:pt x="230635" y="122101"/>
                </a:lnTo>
                <a:cubicBezTo>
                  <a:pt x="238139" y="122101"/>
                  <a:pt x="244202" y="116038"/>
                  <a:pt x="244202" y="108534"/>
                </a:cubicBezTo>
                <a:cubicBezTo>
                  <a:pt x="244202" y="101030"/>
                  <a:pt x="238139" y="94967"/>
                  <a:pt x="230635" y="94967"/>
                </a:cubicBezTo>
                <a:lnTo>
                  <a:pt x="135668" y="94967"/>
                </a:lnTo>
                <a:lnTo>
                  <a:pt x="135668" y="81401"/>
                </a:lnTo>
                <a:lnTo>
                  <a:pt x="142451" y="81401"/>
                </a:lnTo>
                <a:cubicBezTo>
                  <a:pt x="153686" y="81401"/>
                  <a:pt x="162801" y="72285"/>
                  <a:pt x="162801" y="61050"/>
                </a:cubicBezTo>
                <a:lnTo>
                  <a:pt x="162801" y="33917"/>
                </a:lnTo>
                <a:cubicBezTo>
                  <a:pt x="162801" y="22682"/>
                  <a:pt x="153686" y="13567"/>
                  <a:pt x="142451" y="13567"/>
                </a:cubicBezTo>
                <a:lnTo>
                  <a:pt x="101751" y="13567"/>
                </a:lnTo>
                <a:close/>
                <a:moveTo>
                  <a:pt x="189935" y="159409"/>
                </a:moveTo>
                <a:lnTo>
                  <a:pt x="193326" y="159409"/>
                </a:lnTo>
                <a:lnTo>
                  <a:pt x="193326" y="179760"/>
                </a:lnTo>
                <a:lnTo>
                  <a:pt x="159409" y="179760"/>
                </a:lnTo>
                <a:lnTo>
                  <a:pt x="159409" y="159409"/>
                </a:lnTo>
                <a:lnTo>
                  <a:pt x="189935" y="159409"/>
                </a:lnTo>
                <a:close/>
                <a:moveTo>
                  <a:pt x="81401" y="159409"/>
                </a:moveTo>
                <a:lnTo>
                  <a:pt x="84792" y="159409"/>
                </a:lnTo>
                <a:lnTo>
                  <a:pt x="84792" y="179760"/>
                </a:lnTo>
                <a:lnTo>
                  <a:pt x="50875" y="179760"/>
                </a:lnTo>
                <a:lnTo>
                  <a:pt x="50875" y="159409"/>
                </a:lnTo>
                <a:lnTo>
                  <a:pt x="81401" y="15940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383648" y="2387751"/>
            <a:ext cx="3418825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2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Multi-Channel Support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8170" y="2749531"/>
            <a:ext cx="3409780" cy="470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39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Compatible with email, chat, social media, and other communication platforms.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5249" y="1465211"/>
            <a:ext cx="3699205" cy="1935525"/>
          </a:xfrm>
          <a:custGeom>
            <a:avLst/>
            <a:gdLst/>
            <a:ahLst/>
            <a:cxnLst/>
            <a:rect l="l" t="t" r="r" b="b"/>
            <a:pathLst>
              <a:path w="3699205" h="1935525">
                <a:moveTo>
                  <a:pt x="36195" y="0"/>
                </a:moveTo>
                <a:lnTo>
                  <a:pt x="3663061" y="0"/>
                </a:lnTo>
                <a:cubicBezTo>
                  <a:pt x="3683051" y="0"/>
                  <a:pt x="3699256" y="16205"/>
                  <a:pt x="3699256" y="36195"/>
                </a:cubicBezTo>
                <a:lnTo>
                  <a:pt x="3699256" y="1863217"/>
                </a:lnTo>
                <a:cubicBezTo>
                  <a:pt x="3699186" y="1903147"/>
                  <a:pt x="3666796" y="1935480"/>
                  <a:pt x="3626866" y="1935480"/>
                </a:cubicBezTo>
                <a:lnTo>
                  <a:pt x="72390" y="1935480"/>
                </a:lnTo>
                <a:cubicBezTo>
                  <a:pt x="32460" y="1935480"/>
                  <a:pt x="70" y="1903147"/>
                  <a:pt x="0" y="1863217"/>
                </a:cubicBezTo>
                <a:lnTo>
                  <a:pt x="0" y="36195"/>
                </a:lnTo>
                <a:cubicBezTo>
                  <a:pt x="0" y="16218"/>
                  <a:pt x="16218" y="0"/>
                  <a:pt x="3619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5249" y="1465211"/>
            <a:ext cx="3699205" cy="36178"/>
          </a:xfrm>
          <a:custGeom>
            <a:avLst/>
            <a:gdLst/>
            <a:ahLst/>
            <a:cxnLst/>
            <a:rect l="l" t="t" r="r" b="b"/>
            <a:pathLst>
              <a:path w="3699205" h="36178">
                <a:moveTo>
                  <a:pt x="36195" y="0"/>
                </a:moveTo>
                <a:lnTo>
                  <a:pt x="3663061" y="0"/>
                </a:lnTo>
                <a:cubicBezTo>
                  <a:pt x="3683051" y="0"/>
                  <a:pt x="3699256" y="16205"/>
                  <a:pt x="3699256" y="36195"/>
                </a:cubicBezTo>
                <a:lnTo>
                  <a:pt x="3699256" y="36195"/>
                </a:lnTo>
                <a:lnTo>
                  <a:pt x="0" y="36195"/>
                </a:lnTo>
                <a:lnTo>
                  <a:pt x="0" y="36195"/>
                </a:lnTo>
                <a:cubicBezTo>
                  <a:pt x="0" y="16218"/>
                  <a:pt x="16218" y="0"/>
                  <a:pt x="36195" y="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19" name="Shape 17"/>
          <p:cNvSpPr/>
          <p:nvPr/>
        </p:nvSpPr>
        <p:spPr>
          <a:xfrm>
            <a:off x="9686219" y="1664190"/>
            <a:ext cx="578849" cy="578849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20" name="Shape 18"/>
          <p:cNvSpPr/>
          <p:nvPr/>
        </p:nvSpPr>
        <p:spPr>
          <a:xfrm>
            <a:off x="9867109" y="1845080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13567" y="27134"/>
                </a:moveTo>
                <a:cubicBezTo>
                  <a:pt x="6063" y="27134"/>
                  <a:pt x="0" y="33196"/>
                  <a:pt x="0" y="40700"/>
                </a:cubicBezTo>
                <a:cubicBezTo>
                  <a:pt x="0" y="48204"/>
                  <a:pt x="6063" y="54267"/>
                  <a:pt x="13567" y="54267"/>
                </a:cubicBezTo>
                <a:lnTo>
                  <a:pt x="50324" y="54267"/>
                </a:lnTo>
                <a:cubicBezTo>
                  <a:pt x="55539" y="66265"/>
                  <a:pt x="67495" y="74617"/>
                  <a:pt x="81401" y="74617"/>
                </a:cubicBezTo>
                <a:cubicBezTo>
                  <a:pt x="95307" y="74617"/>
                  <a:pt x="107262" y="66265"/>
                  <a:pt x="112477" y="54267"/>
                </a:cubicBezTo>
                <a:lnTo>
                  <a:pt x="203501" y="54267"/>
                </a:lnTo>
                <a:cubicBezTo>
                  <a:pt x="211006" y="54267"/>
                  <a:pt x="217068" y="48204"/>
                  <a:pt x="217068" y="40700"/>
                </a:cubicBezTo>
                <a:cubicBezTo>
                  <a:pt x="217068" y="33196"/>
                  <a:pt x="211006" y="27134"/>
                  <a:pt x="203501" y="27134"/>
                </a:cubicBezTo>
                <a:lnTo>
                  <a:pt x="112477" y="27134"/>
                </a:lnTo>
                <a:cubicBezTo>
                  <a:pt x="107262" y="15135"/>
                  <a:pt x="95307" y="6783"/>
                  <a:pt x="81401" y="6783"/>
                </a:cubicBezTo>
                <a:cubicBezTo>
                  <a:pt x="67495" y="6783"/>
                  <a:pt x="55539" y="15135"/>
                  <a:pt x="50324" y="27134"/>
                </a:cubicBezTo>
                <a:lnTo>
                  <a:pt x="13567" y="27134"/>
                </a:lnTo>
                <a:close/>
                <a:moveTo>
                  <a:pt x="13567" y="94967"/>
                </a:moveTo>
                <a:cubicBezTo>
                  <a:pt x="6063" y="94967"/>
                  <a:pt x="0" y="101030"/>
                  <a:pt x="0" y="108534"/>
                </a:cubicBezTo>
                <a:cubicBezTo>
                  <a:pt x="0" y="116038"/>
                  <a:pt x="6063" y="122101"/>
                  <a:pt x="13567" y="122101"/>
                </a:cubicBezTo>
                <a:lnTo>
                  <a:pt x="118158" y="122101"/>
                </a:lnTo>
                <a:cubicBezTo>
                  <a:pt x="123373" y="134099"/>
                  <a:pt x="135328" y="142451"/>
                  <a:pt x="149234" y="142451"/>
                </a:cubicBezTo>
                <a:cubicBezTo>
                  <a:pt x="163140" y="142451"/>
                  <a:pt x="175096" y="134099"/>
                  <a:pt x="180311" y="122101"/>
                </a:cubicBezTo>
                <a:lnTo>
                  <a:pt x="203501" y="122101"/>
                </a:lnTo>
                <a:cubicBezTo>
                  <a:pt x="211006" y="122101"/>
                  <a:pt x="217068" y="116038"/>
                  <a:pt x="217068" y="108534"/>
                </a:cubicBezTo>
                <a:cubicBezTo>
                  <a:pt x="217068" y="101030"/>
                  <a:pt x="211006" y="94967"/>
                  <a:pt x="203501" y="94967"/>
                </a:cubicBezTo>
                <a:lnTo>
                  <a:pt x="180311" y="94967"/>
                </a:lnTo>
                <a:cubicBezTo>
                  <a:pt x="175096" y="82969"/>
                  <a:pt x="163140" y="74617"/>
                  <a:pt x="149234" y="74617"/>
                </a:cubicBezTo>
                <a:cubicBezTo>
                  <a:pt x="135328" y="74617"/>
                  <a:pt x="123373" y="82969"/>
                  <a:pt x="118158" y="94967"/>
                </a:cubicBezTo>
                <a:lnTo>
                  <a:pt x="13567" y="94967"/>
                </a:lnTo>
                <a:close/>
                <a:moveTo>
                  <a:pt x="13567" y="162801"/>
                </a:moveTo>
                <a:cubicBezTo>
                  <a:pt x="6063" y="162801"/>
                  <a:pt x="0" y="168864"/>
                  <a:pt x="0" y="176368"/>
                </a:cubicBezTo>
                <a:cubicBezTo>
                  <a:pt x="0" y="183872"/>
                  <a:pt x="6063" y="189935"/>
                  <a:pt x="13567" y="189935"/>
                </a:cubicBezTo>
                <a:lnTo>
                  <a:pt x="36757" y="189935"/>
                </a:lnTo>
                <a:cubicBezTo>
                  <a:pt x="41972" y="201933"/>
                  <a:pt x="53928" y="210285"/>
                  <a:pt x="67834" y="210285"/>
                </a:cubicBezTo>
                <a:cubicBezTo>
                  <a:pt x="81740" y="210285"/>
                  <a:pt x="93695" y="201933"/>
                  <a:pt x="98910" y="189935"/>
                </a:cubicBezTo>
                <a:lnTo>
                  <a:pt x="203501" y="189935"/>
                </a:lnTo>
                <a:cubicBezTo>
                  <a:pt x="211006" y="189935"/>
                  <a:pt x="217068" y="183872"/>
                  <a:pt x="217068" y="176368"/>
                </a:cubicBezTo>
                <a:cubicBezTo>
                  <a:pt x="217068" y="168864"/>
                  <a:pt x="211006" y="162801"/>
                  <a:pt x="203501" y="162801"/>
                </a:cubicBezTo>
                <a:lnTo>
                  <a:pt x="98910" y="162801"/>
                </a:lnTo>
                <a:cubicBezTo>
                  <a:pt x="93695" y="150803"/>
                  <a:pt x="81740" y="142451"/>
                  <a:pt x="67834" y="142451"/>
                </a:cubicBezTo>
                <a:cubicBezTo>
                  <a:pt x="53928" y="142451"/>
                  <a:pt x="41972" y="150803"/>
                  <a:pt x="36757" y="162801"/>
                </a:cubicBezTo>
                <a:lnTo>
                  <a:pt x="13567" y="16280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265439" y="2387751"/>
            <a:ext cx="3418825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2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Tone Customization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69961" y="2749531"/>
            <a:ext cx="3409780" cy="470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39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Adjustable tone settings: professional, friendly, formal, casual to match brand voice.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1780" y="3599715"/>
            <a:ext cx="3699205" cy="1935525"/>
          </a:xfrm>
          <a:custGeom>
            <a:avLst/>
            <a:gdLst/>
            <a:ahLst/>
            <a:cxnLst/>
            <a:rect l="l" t="t" r="r" b="b"/>
            <a:pathLst>
              <a:path w="3699205" h="1935525">
                <a:moveTo>
                  <a:pt x="36195" y="0"/>
                </a:moveTo>
                <a:lnTo>
                  <a:pt x="3663061" y="0"/>
                </a:lnTo>
                <a:cubicBezTo>
                  <a:pt x="3683051" y="0"/>
                  <a:pt x="3699256" y="16205"/>
                  <a:pt x="3699256" y="36195"/>
                </a:cubicBezTo>
                <a:lnTo>
                  <a:pt x="3699256" y="1863217"/>
                </a:lnTo>
                <a:cubicBezTo>
                  <a:pt x="3699186" y="1903147"/>
                  <a:pt x="3666796" y="1935480"/>
                  <a:pt x="3626866" y="1935480"/>
                </a:cubicBezTo>
                <a:lnTo>
                  <a:pt x="72390" y="1935480"/>
                </a:lnTo>
                <a:cubicBezTo>
                  <a:pt x="32460" y="1935480"/>
                  <a:pt x="70" y="1903147"/>
                  <a:pt x="0" y="1863217"/>
                </a:cubicBezTo>
                <a:lnTo>
                  <a:pt x="0" y="36195"/>
                </a:lnTo>
                <a:cubicBezTo>
                  <a:pt x="0" y="16218"/>
                  <a:pt x="16218" y="0"/>
                  <a:pt x="3619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61780" y="3599715"/>
            <a:ext cx="3699205" cy="36178"/>
          </a:xfrm>
          <a:custGeom>
            <a:avLst/>
            <a:gdLst/>
            <a:ahLst/>
            <a:cxnLst/>
            <a:rect l="l" t="t" r="r" b="b"/>
            <a:pathLst>
              <a:path w="3699205" h="36178">
                <a:moveTo>
                  <a:pt x="36195" y="0"/>
                </a:moveTo>
                <a:lnTo>
                  <a:pt x="3663061" y="0"/>
                </a:lnTo>
                <a:cubicBezTo>
                  <a:pt x="3683051" y="0"/>
                  <a:pt x="3699256" y="16205"/>
                  <a:pt x="3699256" y="36195"/>
                </a:cubicBezTo>
                <a:lnTo>
                  <a:pt x="3699256" y="36195"/>
                </a:lnTo>
                <a:lnTo>
                  <a:pt x="0" y="36195"/>
                </a:lnTo>
                <a:lnTo>
                  <a:pt x="0" y="36195"/>
                </a:lnTo>
                <a:cubicBezTo>
                  <a:pt x="0" y="16218"/>
                  <a:pt x="16218" y="0"/>
                  <a:pt x="36195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5" name="Shape 23"/>
          <p:cNvSpPr/>
          <p:nvPr/>
        </p:nvSpPr>
        <p:spPr>
          <a:xfrm>
            <a:off x="1922750" y="3798694"/>
            <a:ext cx="578849" cy="578849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/>
        </p:spPr>
      </p:sp>
      <p:sp>
        <p:nvSpPr>
          <p:cNvPr id="26" name="Shape 24"/>
          <p:cNvSpPr/>
          <p:nvPr/>
        </p:nvSpPr>
        <p:spPr>
          <a:xfrm>
            <a:off x="2130774" y="3979585"/>
            <a:ext cx="162801" cy="217068"/>
          </a:xfrm>
          <a:custGeom>
            <a:avLst/>
            <a:gdLst/>
            <a:ahLst/>
            <a:cxnLst/>
            <a:rect l="l" t="t" r="r" b="b"/>
            <a:pathLst>
              <a:path w="162801" h="217068">
                <a:moveTo>
                  <a:pt x="105948" y="28321"/>
                </a:moveTo>
                <a:cubicBezTo>
                  <a:pt x="110357" y="22258"/>
                  <a:pt x="109000" y="13779"/>
                  <a:pt x="102938" y="9370"/>
                </a:cubicBezTo>
                <a:cubicBezTo>
                  <a:pt x="96875" y="4960"/>
                  <a:pt x="88396" y="6317"/>
                  <a:pt x="83987" y="12380"/>
                </a:cubicBezTo>
                <a:lnTo>
                  <a:pt x="39047" y="74151"/>
                </a:lnTo>
                <a:lnTo>
                  <a:pt x="23148" y="58252"/>
                </a:lnTo>
                <a:cubicBezTo>
                  <a:pt x="17849" y="52953"/>
                  <a:pt x="9242" y="52953"/>
                  <a:pt x="3943" y="58252"/>
                </a:cubicBezTo>
                <a:cubicBezTo>
                  <a:pt x="-1357" y="63552"/>
                  <a:pt x="-1357" y="72158"/>
                  <a:pt x="3943" y="77458"/>
                </a:cubicBezTo>
                <a:lnTo>
                  <a:pt x="31076" y="104591"/>
                </a:lnTo>
                <a:cubicBezTo>
                  <a:pt x="33875" y="107389"/>
                  <a:pt x="37775" y="108831"/>
                  <a:pt x="41718" y="108534"/>
                </a:cubicBezTo>
                <a:cubicBezTo>
                  <a:pt x="45661" y="108237"/>
                  <a:pt x="49307" y="106202"/>
                  <a:pt x="51639" y="102980"/>
                </a:cubicBezTo>
                <a:lnTo>
                  <a:pt x="105906" y="28363"/>
                </a:lnTo>
                <a:close/>
                <a:moveTo>
                  <a:pt x="160215" y="85979"/>
                </a:moveTo>
                <a:cubicBezTo>
                  <a:pt x="164624" y="79917"/>
                  <a:pt x="163268" y="71438"/>
                  <a:pt x="157205" y="67028"/>
                </a:cubicBezTo>
                <a:cubicBezTo>
                  <a:pt x="151142" y="62619"/>
                  <a:pt x="142663" y="63976"/>
                  <a:pt x="138254" y="70038"/>
                </a:cubicBezTo>
                <a:lnTo>
                  <a:pt x="66180" y="169118"/>
                </a:lnTo>
                <a:lnTo>
                  <a:pt x="36715" y="139653"/>
                </a:lnTo>
                <a:cubicBezTo>
                  <a:pt x="31416" y="134353"/>
                  <a:pt x="22809" y="134353"/>
                  <a:pt x="17510" y="139653"/>
                </a:cubicBezTo>
                <a:cubicBezTo>
                  <a:pt x="12210" y="144952"/>
                  <a:pt x="12210" y="153559"/>
                  <a:pt x="17510" y="158858"/>
                </a:cubicBezTo>
                <a:lnTo>
                  <a:pt x="58210" y="199559"/>
                </a:lnTo>
                <a:cubicBezTo>
                  <a:pt x="61008" y="202357"/>
                  <a:pt x="64908" y="203798"/>
                  <a:pt x="68851" y="203501"/>
                </a:cubicBezTo>
                <a:cubicBezTo>
                  <a:pt x="72794" y="203205"/>
                  <a:pt x="76440" y="201170"/>
                  <a:pt x="78772" y="197948"/>
                </a:cubicBezTo>
                <a:lnTo>
                  <a:pt x="160173" y="8602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01970" y="4522255"/>
            <a:ext cx="3418825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2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Do's and Don'ts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6493" y="4884036"/>
            <a:ext cx="3409780" cy="470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39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guidance on best practices and phrases to avoid based on emotional context.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43458" y="3599715"/>
            <a:ext cx="3699205" cy="1935525"/>
          </a:xfrm>
          <a:custGeom>
            <a:avLst/>
            <a:gdLst/>
            <a:ahLst/>
            <a:cxnLst/>
            <a:rect l="l" t="t" r="r" b="b"/>
            <a:pathLst>
              <a:path w="3699205" h="1935525">
                <a:moveTo>
                  <a:pt x="36195" y="0"/>
                </a:moveTo>
                <a:lnTo>
                  <a:pt x="3663061" y="0"/>
                </a:lnTo>
                <a:cubicBezTo>
                  <a:pt x="3683051" y="0"/>
                  <a:pt x="3699256" y="16205"/>
                  <a:pt x="3699256" y="36195"/>
                </a:cubicBezTo>
                <a:lnTo>
                  <a:pt x="3699256" y="1863217"/>
                </a:lnTo>
                <a:cubicBezTo>
                  <a:pt x="3699186" y="1903147"/>
                  <a:pt x="3666796" y="1935480"/>
                  <a:pt x="3626866" y="1935480"/>
                </a:cubicBezTo>
                <a:lnTo>
                  <a:pt x="72390" y="1935480"/>
                </a:lnTo>
                <a:cubicBezTo>
                  <a:pt x="32460" y="1935480"/>
                  <a:pt x="70" y="1903147"/>
                  <a:pt x="0" y="1863217"/>
                </a:cubicBezTo>
                <a:lnTo>
                  <a:pt x="0" y="36195"/>
                </a:lnTo>
                <a:cubicBezTo>
                  <a:pt x="0" y="16218"/>
                  <a:pt x="16218" y="0"/>
                  <a:pt x="3619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243458" y="3599715"/>
            <a:ext cx="3699205" cy="36178"/>
          </a:xfrm>
          <a:custGeom>
            <a:avLst/>
            <a:gdLst/>
            <a:ahLst/>
            <a:cxnLst/>
            <a:rect l="l" t="t" r="r" b="b"/>
            <a:pathLst>
              <a:path w="3699205" h="36178">
                <a:moveTo>
                  <a:pt x="36195" y="0"/>
                </a:moveTo>
                <a:lnTo>
                  <a:pt x="3663061" y="0"/>
                </a:lnTo>
                <a:cubicBezTo>
                  <a:pt x="3683051" y="0"/>
                  <a:pt x="3699256" y="16205"/>
                  <a:pt x="3699256" y="36195"/>
                </a:cubicBezTo>
                <a:lnTo>
                  <a:pt x="3699256" y="36195"/>
                </a:lnTo>
                <a:lnTo>
                  <a:pt x="0" y="36195"/>
                </a:lnTo>
                <a:lnTo>
                  <a:pt x="0" y="36195"/>
                </a:lnTo>
                <a:cubicBezTo>
                  <a:pt x="0" y="16218"/>
                  <a:pt x="16218" y="0"/>
                  <a:pt x="36195" y="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31" name="Shape 29"/>
          <p:cNvSpPr/>
          <p:nvPr/>
        </p:nvSpPr>
        <p:spPr>
          <a:xfrm>
            <a:off x="5804428" y="3798694"/>
            <a:ext cx="578849" cy="578849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32" name="Shape 30"/>
          <p:cNvSpPr/>
          <p:nvPr/>
        </p:nvSpPr>
        <p:spPr>
          <a:xfrm>
            <a:off x="5985318" y="3979585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0" y="27134"/>
                </a:moveTo>
                <a:cubicBezTo>
                  <a:pt x="0" y="19629"/>
                  <a:pt x="6063" y="13567"/>
                  <a:pt x="13567" y="13567"/>
                </a:cubicBezTo>
                <a:lnTo>
                  <a:pt x="203501" y="13567"/>
                </a:lnTo>
                <a:cubicBezTo>
                  <a:pt x="211006" y="13567"/>
                  <a:pt x="217068" y="19629"/>
                  <a:pt x="217068" y="27134"/>
                </a:cubicBezTo>
                <a:lnTo>
                  <a:pt x="217068" y="40700"/>
                </a:lnTo>
                <a:cubicBezTo>
                  <a:pt x="217068" y="48204"/>
                  <a:pt x="211006" y="54267"/>
                  <a:pt x="203501" y="54267"/>
                </a:cubicBezTo>
                <a:lnTo>
                  <a:pt x="13567" y="54267"/>
                </a:lnTo>
                <a:cubicBezTo>
                  <a:pt x="6063" y="54267"/>
                  <a:pt x="0" y="48204"/>
                  <a:pt x="0" y="40700"/>
                </a:cubicBezTo>
                <a:lnTo>
                  <a:pt x="0" y="27134"/>
                </a:lnTo>
                <a:close/>
                <a:moveTo>
                  <a:pt x="13567" y="74617"/>
                </a:moveTo>
                <a:lnTo>
                  <a:pt x="203501" y="74617"/>
                </a:lnTo>
                <a:lnTo>
                  <a:pt x="203501" y="176368"/>
                </a:lnTo>
                <a:cubicBezTo>
                  <a:pt x="203501" y="191334"/>
                  <a:pt x="191334" y="203501"/>
                  <a:pt x="176368" y="203501"/>
                </a:cubicBezTo>
                <a:lnTo>
                  <a:pt x="40700" y="203501"/>
                </a:lnTo>
                <a:cubicBezTo>
                  <a:pt x="25734" y="203501"/>
                  <a:pt x="13567" y="191334"/>
                  <a:pt x="13567" y="176368"/>
                </a:cubicBezTo>
                <a:lnTo>
                  <a:pt x="13567" y="74617"/>
                </a:lnTo>
                <a:close/>
                <a:moveTo>
                  <a:pt x="78009" y="101751"/>
                </a:moveTo>
                <a:cubicBezTo>
                  <a:pt x="72370" y="101751"/>
                  <a:pt x="67834" y="106287"/>
                  <a:pt x="67834" y="111926"/>
                </a:cubicBezTo>
                <a:cubicBezTo>
                  <a:pt x="67834" y="117565"/>
                  <a:pt x="72370" y="122101"/>
                  <a:pt x="78009" y="122101"/>
                </a:cubicBezTo>
                <a:lnTo>
                  <a:pt x="139059" y="122101"/>
                </a:lnTo>
                <a:cubicBezTo>
                  <a:pt x="144698" y="122101"/>
                  <a:pt x="149234" y="117565"/>
                  <a:pt x="149234" y="111926"/>
                </a:cubicBezTo>
                <a:cubicBezTo>
                  <a:pt x="149234" y="106287"/>
                  <a:pt x="144698" y="101751"/>
                  <a:pt x="139059" y="101751"/>
                </a:cubicBezTo>
                <a:lnTo>
                  <a:pt x="78009" y="10175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383648" y="4522255"/>
            <a:ext cx="3418825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2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 Storage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388170" y="4884036"/>
            <a:ext cx="3409780" cy="470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39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SQLite database for storing cases, responses, and analytics for future reference.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25249" y="3599715"/>
            <a:ext cx="3699205" cy="1935525"/>
          </a:xfrm>
          <a:custGeom>
            <a:avLst/>
            <a:gdLst/>
            <a:ahLst/>
            <a:cxnLst/>
            <a:rect l="l" t="t" r="r" b="b"/>
            <a:pathLst>
              <a:path w="3699205" h="1935525">
                <a:moveTo>
                  <a:pt x="36195" y="0"/>
                </a:moveTo>
                <a:lnTo>
                  <a:pt x="3663061" y="0"/>
                </a:lnTo>
                <a:cubicBezTo>
                  <a:pt x="3683051" y="0"/>
                  <a:pt x="3699256" y="16205"/>
                  <a:pt x="3699256" y="36195"/>
                </a:cubicBezTo>
                <a:lnTo>
                  <a:pt x="3699256" y="1863217"/>
                </a:lnTo>
                <a:cubicBezTo>
                  <a:pt x="3699186" y="1903147"/>
                  <a:pt x="3666796" y="1935480"/>
                  <a:pt x="3626866" y="1935480"/>
                </a:cubicBezTo>
                <a:lnTo>
                  <a:pt x="72390" y="1935480"/>
                </a:lnTo>
                <a:cubicBezTo>
                  <a:pt x="32460" y="1935480"/>
                  <a:pt x="70" y="1903147"/>
                  <a:pt x="0" y="1863217"/>
                </a:cubicBezTo>
                <a:lnTo>
                  <a:pt x="0" y="36195"/>
                </a:lnTo>
                <a:cubicBezTo>
                  <a:pt x="0" y="16218"/>
                  <a:pt x="16218" y="0"/>
                  <a:pt x="3619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8125249" y="3599715"/>
            <a:ext cx="3699205" cy="36178"/>
          </a:xfrm>
          <a:custGeom>
            <a:avLst/>
            <a:gdLst/>
            <a:ahLst/>
            <a:cxnLst/>
            <a:rect l="l" t="t" r="r" b="b"/>
            <a:pathLst>
              <a:path w="3699205" h="36178">
                <a:moveTo>
                  <a:pt x="36195" y="0"/>
                </a:moveTo>
                <a:lnTo>
                  <a:pt x="3663061" y="0"/>
                </a:lnTo>
                <a:cubicBezTo>
                  <a:pt x="3683051" y="0"/>
                  <a:pt x="3699256" y="16205"/>
                  <a:pt x="3699256" y="36195"/>
                </a:cubicBezTo>
                <a:lnTo>
                  <a:pt x="3699256" y="36195"/>
                </a:lnTo>
                <a:lnTo>
                  <a:pt x="0" y="36195"/>
                </a:lnTo>
                <a:lnTo>
                  <a:pt x="0" y="36195"/>
                </a:lnTo>
                <a:cubicBezTo>
                  <a:pt x="0" y="16218"/>
                  <a:pt x="16218" y="0"/>
                  <a:pt x="36195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7" name="Shape 35"/>
          <p:cNvSpPr/>
          <p:nvPr/>
        </p:nvSpPr>
        <p:spPr>
          <a:xfrm>
            <a:off x="9686219" y="3798694"/>
            <a:ext cx="578849" cy="578849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/>
        </p:spPr>
      </p:sp>
      <p:sp>
        <p:nvSpPr>
          <p:cNvPr id="38" name="Shape 36"/>
          <p:cNvSpPr/>
          <p:nvPr/>
        </p:nvSpPr>
        <p:spPr>
          <a:xfrm>
            <a:off x="9880676" y="3979585"/>
            <a:ext cx="189935" cy="217068"/>
          </a:xfrm>
          <a:custGeom>
            <a:avLst/>
            <a:gdLst/>
            <a:ahLst/>
            <a:cxnLst/>
            <a:rect l="l" t="t" r="r" b="b"/>
            <a:pathLst>
              <a:path w="189935" h="217068">
                <a:moveTo>
                  <a:pt x="143638" y="-4197"/>
                </a:moveTo>
                <a:cubicBezTo>
                  <a:pt x="148683" y="-551"/>
                  <a:pt x="150549" y="6063"/>
                  <a:pt x="148259" y="11829"/>
                </a:cubicBezTo>
                <a:lnTo>
                  <a:pt x="115021" y="94967"/>
                </a:lnTo>
                <a:lnTo>
                  <a:pt x="176368" y="94967"/>
                </a:lnTo>
                <a:cubicBezTo>
                  <a:pt x="182091" y="94967"/>
                  <a:pt x="187179" y="98529"/>
                  <a:pt x="189129" y="103913"/>
                </a:cubicBezTo>
                <a:cubicBezTo>
                  <a:pt x="191079" y="109297"/>
                  <a:pt x="189426" y="115318"/>
                  <a:pt x="185059" y="118964"/>
                </a:cubicBezTo>
                <a:lnTo>
                  <a:pt x="62958" y="220714"/>
                </a:lnTo>
                <a:cubicBezTo>
                  <a:pt x="58168" y="224700"/>
                  <a:pt x="51342" y="224912"/>
                  <a:pt x="46297" y="221265"/>
                </a:cubicBezTo>
                <a:cubicBezTo>
                  <a:pt x="41251" y="217619"/>
                  <a:pt x="39386" y="211006"/>
                  <a:pt x="41675" y="205240"/>
                </a:cubicBezTo>
                <a:lnTo>
                  <a:pt x="74914" y="122101"/>
                </a:lnTo>
                <a:lnTo>
                  <a:pt x="13567" y="122101"/>
                </a:lnTo>
                <a:cubicBezTo>
                  <a:pt x="7843" y="122101"/>
                  <a:pt x="2756" y="118540"/>
                  <a:pt x="806" y="113155"/>
                </a:cubicBezTo>
                <a:cubicBezTo>
                  <a:pt x="-1145" y="107771"/>
                  <a:pt x="509" y="101751"/>
                  <a:pt x="4876" y="98105"/>
                </a:cubicBezTo>
                <a:lnTo>
                  <a:pt x="126976" y="-3646"/>
                </a:lnTo>
                <a:cubicBezTo>
                  <a:pt x="131767" y="-7631"/>
                  <a:pt x="138593" y="-7843"/>
                  <a:pt x="143638" y="-41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8265439" y="4522255"/>
            <a:ext cx="3418825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2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Processing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69961" y="4884036"/>
            <a:ext cx="3409780" cy="470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39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Instant analysis and response generation with minimal latency for live interactions.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61780" y="5752309"/>
            <a:ext cx="11468439" cy="506493"/>
          </a:xfrm>
          <a:prstGeom prst="roundRect">
            <a:avLst>
              <a:gd name="adj" fmla="val 14286"/>
            </a:avLst>
          </a:prstGeom>
          <a:solidFill>
            <a:srgbClr val="2980B9"/>
          </a:solidFill>
          <a:ln/>
        </p:spPr>
      </p:sp>
      <p:sp>
        <p:nvSpPr>
          <p:cNvPr id="42" name="Shape 40"/>
          <p:cNvSpPr/>
          <p:nvPr/>
        </p:nvSpPr>
        <p:spPr>
          <a:xfrm>
            <a:off x="2416919" y="5925965"/>
            <a:ext cx="162801" cy="144712"/>
          </a:xfrm>
          <a:custGeom>
            <a:avLst/>
            <a:gdLst/>
            <a:ahLst/>
            <a:cxnLst/>
            <a:rect l="l" t="t" r="r" b="b"/>
            <a:pathLst>
              <a:path w="162801" h="144712">
                <a:moveTo>
                  <a:pt x="87477" y="-5342"/>
                </a:moveTo>
                <a:cubicBezTo>
                  <a:pt x="86319" y="-7603"/>
                  <a:pt x="83973" y="-9045"/>
                  <a:pt x="81429" y="-9045"/>
                </a:cubicBezTo>
                <a:cubicBezTo>
                  <a:pt x="78885" y="-9045"/>
                  <a:pt x="76539" y="-7603"/>
                  <a:pt x="75380" y="-5342"/>
                </a:cubicBezTo>
                <a:lnTo>
                  <a:pt x="54578" y="35415"/>
                </a:lnTo>
                <a:lnTo>
                  <a:pt x="9384" y="42594"/>
                </a:lnTo>
                <a:cubicBezTo>
                  <a:pt x="6868" y="42990"/>
                  <a:pt x="4777" y="44770"/>
                  <a:pt x="3985" y="47201"/>
                </a:cubicBezTo>
                <a:cubicBezTo>
                  <a:pt x="3194" y="49632"/>
                  <a:pt x="3844" y="52289"/>
                  <a:pt x="5625" y="54097"/>
                </a:cubicBezTo>
                <a:lnTo>
                  <a:pt x="37959" y="86460"/>
                </a:lnTo>
                <a:lnTo>
                  <a:pt x="30836" y="131654"/>
                </a:lnTo>
                <a:cubicBezTo>
                  <a:pt x="30440" y="134170"/>
                  <a:pt x="31486" y="136713"/>
                  <a:pt x="33549" y="138211"/>
                </a:cubicBezTo>
                <a:cubicBezTo>
                  <a:pt x="35613" y="139709"/>
                  <a:pt x="38326" y="139936"/>
                  <a:pt x="40616" y="138777"/>
                </a:cubicBezTo>
                <a:lnTo>
                  <a:pt x="81429" y="118031"/>
                </a:lnTo>
                <a:lnTo>
                  <a:pt x="122214" y="138777"/>
                </a:lnTo>
                <a:cubicBezTo>
                  <a:pt x="124475" y="139936"/>
                  <a:pt x="127217" y="139709"/>
                  <a:pt x="129280" y="138211"/>
                </a:cubicBezTo>
                <a:cubicBezTo>
                  <a:pt x="131343" y="136713"/>
                  <a:pt x="132389" y="134198"/>
                  <a:pt x="131993" y="131654"/>
                </a:cubicBezTo>
                <a:lnTo>
                  <a:pt x="124843" y="86460"/>
                </a:lnTo>
                <a:lnTo>
                  <a:pt x="157177" y="54097"/>
                </a:lnTo>
                <a:cubicBezTo>
                  <a:pt x="158986" y="52289"/>
                  <a:pt x="159607" y="49632"/>
                  <a:pt x="158816" y="47201"/>
                </a:cubicBezTo>
                <a:cubicBezTo>
                  <a:pt x="158025" y="44770"/>
                  <a:pt x="155961" y="42990"/>
                  <a:pt x="153418" y="42594"/>
                </a:cubicBezTo>
                <a:lnTo>
                  <a:pt x="108251" y="35415"/>
                </a:lnTo>
                <a:lnTo>
                  <a:pt x="87477" y="-534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702734" y="5897021"/>
            <a:ext cx="11018951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Competitive Advantage:</a:t>
            </a:r>
            <a:r>
              <a:rPr lang="en-US" sz="1139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Comprehensive emotion-aware assistance that goes beyond basic chatbot functionality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608" y="351608"/>
            <a:ext cx="11559106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kern="0" spc="55" dirty="0">
                <a:solidFill>
                  <a:srgbClr val="2980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DEMONSTRATION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1608" y="632894"/>
            <a:ext cx="11647008" cy="35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2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Workflow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1608" y="1089984"/>
            <a:ext cx="843859" cy="35161"/>
          </a:xfrm>
          <a:prstGeom prst="roundRect">
            <a:avLst>
              <a:gd name="adj" fmla="val 0"/>
            </a:avLst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369188" y="1336110"/>
            <a:ext cx="5616934" cy="1406431"/>
          </a:xfrm>
          <a:custGeom>
            <a:avLst/>
            <a:gdLst/>
            <a:ahLst/>
            <a:cxnLst/>
            <a:rect l="l" t="t" r="r" b="b"/>
            <a:pathLst>
              <a:path w="5616934" h="1406431">
                <a:moveTo>
                  <a:pt x="35179" y="0"/>
                </a:moveTo>
                <a:lnTo>
                  <a:pt x="5546598" y="0"/>
                </a:lnTo>
                <a:cubicBezTo>
                  <a:pt x="5585456" y="0"/>
                  <a:pt x="5616956" y="31500"/>
                  <a:pt x="5616956" y="70358"/>
                </a:cubicBezTo>
                <a:lnTo>
                  <a:pt x="5616956" y="1336167"/>
                </a:lnTo>
                <a:cubicBezTo>
                  <a:pt x="5616886" y="1374975"/>
                  <a:pt x="5585406" y="1406398"/>
                  <a:pt x="5546598" y="1406398"/>
                </a:cubicBezTo>
                <a:lnTo>
                  <a:pt x="35179" y="1406398"/>
                </a:lnTo>
                <a:cubicBezTo>
                  <a:pt x="15750" y="1406398"/>
                  <a:pt x="0" y="1390648"/>
                  <a:pt x="0" y="1371219"/>
                </a:cubicBezTo>
                <a:lnTo>
                  <a:pt x="0" y="35179"/>
                </a:lnTo>
                <a:cubicBezTo>
                  <a:pt x="0" y="15763"/>
                  <a:pt x="15763" y="0"/>
                  <a:pt x="3517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69188" y="1336110"/>
            <a:ext cx="35161" cy="1406431"/>
          </a:xfrm>
          <a:custGeom>
            <a:avLst/>
            <a:gdLst/>
            <a:ahLst/>
            <a:cxnLst/>
            <a:rect l="l" t="t" r="r" b="b"/>
            <a:pathLst>
              <a:path w="35161" h="1406431">
                <a:moveTo>
                  <a:pt x="35179" y="0"/>
                </a:moveTo>
                <a:lnTo>
                  <a:pt x="35179" y="0"/>
                </a:lnTo>
                <a:lnTo>
                  <a:pt x="35179" y="1406398"/>
                </a:lnTo>
                <a:lnTo>
                  <a:pt x="35179" y="1406398"/>
                </a:lnTo>
                <a:cubicBezTo>
                  <a:pt x="15750" y="1406398"/>
                  <a:pt x="0" y="1390648"/>
                  <a:pt x="0" y="1371219"/>
                </a:cubicBezTo>
                <a:lnTo>
                  <a:pt x="0" y="35179"/>
                </a:lnTo>
                <a:cubicBezTo>
                  <a:pt x="0" y="15763"/>
                  <a:pt x="15763" y="0"/>
                  <a:pt x="35179" y="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7" name="Shape 5"/>
          <p:cNvSpPr/>
          <p:nvPr/>
        </p:nvSpPr>
        <p:spPr>
          <a:xfrm>
            <a:off x="584548" y="1540044"/>
            <a:ext cx="175804" cy="175804"/>
          </a:xfrm>
          <a:custGeom>
            <a:avLst/>
            <a:gdLst/>
            <a:ahLst/>
            <a:cxnLst/>
            <a:rect l="l" t="t" r="r" b="b"/>
            <a:pathLst>
              <a:path w="175804" h="175804">
                <a:moveTo>
                  <a:pt x="31521" y="10988"/>
                </a:moveTo>
                <a:cubicBezTo>
                  <a:pt x="20568" y="10988"/>
                  <a:pt x="11297" y="19023"/>
                  <a:pt x="9752" y="29839"/>
                </a:cubicBezTo>
                <a:lnTo>
                  <a:pt x="206" y="96555"/>
                </a:lnTo>
                <a:cubicBezTo>
                  <a:pt x="69" y="97585"/>
                  <a:pt x="0" y="98615"/>
                  <a:pt x="0" y="99679"/>
                </a:cubicBezTo>
                <a:lnTo>
                  <a:pt x="0" y="142841"/>
                </a:lnTo>
                <a:cubicBezTo>
                  <a:pt x="0" y="154962"/>
                  <a:pt x="9855" y="164816"/>
                  <a:pt x="21975" y="164816"/>
                </a:cubicBezTo>
                <a:lnTo>
                  <a:pt x="153828" y="164816"/>
                </a:lnTo>
                <a:cubicBezTo>
                  <a:pt x="165949" y="164816"/>
                  <a:pt x="175804" y="154962"/>
                  <a:pt x="175804" y="142841"/>
                </a:cubicBezTo>
                <a:lnTo>
                  <a:pt x="175804" y="99679"/>
                </a:lnTo>
                <a:cubicBezTo>
                  <a:pt x="175804" y="98649"/>
                  <a:pt x="175735" y="97585"/>
                  <a:pt x="175598" y="96555"/>
                </a:cubicBezTo>
                <a:lnTo>
                  <a:pt x="166052" y="29839"/>
                </a:lnTo>
                <a:cubicBezTo>
                  <a:pt x="164507" y="19023"/>
                  <a:pt x="155236" y="10988"/>
                  <a:pt x="144283" y="10988"/>
                </a:cubicBezTo>
                <a:lnTo>
                  <a:pt x="31521" y="10988"/>
                </a:lnTo>
                <a:close/>
                <a:moveTo>
                  <a:pt x="31521" y="32963"/>
                </a:moveTo>
                <a:lnTo>
                  <a:pt x="144317" y="32963"/>
                </a:lnTo>
                <a:lnTo>
                  <a:pt x="153725" y="98890"/>
                </a:lnTo>
                <a:lnTo>
                  <a:pt x="133158" y="98890"/>
                </a:lnTo>
                <a:cubicBezTo>
                  <a:pt x="129003" y="98890"/>
                  <a:pt x="125192" y="101225"/>
                  <a:pt x="123337" y="104967"/>
                </a:cubicBezTo>
                <a:lnTo>
                  <a:pt x="118427" y="114788"/>
                </a:lnTo>
                <a:cubicBezTo>
                  <a:pt x="116573" y="118496"/>
                  <a:pt x="112762" y="120865"/>
                  <a:pt x="108607" y="120865"/>
                </a:cubicBezTo>
                <a:lnTo>
                  <a:pt x="67266" y="120865"/>
                </a:lnTo>
                <a:cubicBezTo>
                  <a:pt x="63111" y="120865"/>
                  <a:pt x="59299" y="118530"/>
                  <a:pt x="57445" y="114788"/>
                </a:cubicBezTo>
                <a:lnTo>
                  <a:pt x="52535" y="104967"/>
                </a:lnTo>
                <a:cubicBezTo>
                  <a:pt x="50681" y="101259"/>
                  <a:pt x="46870" y="98890"/>
                  <a:pt x="42715" y="98890"/>
                </a:cubicBezTo>
                <a:lnTo>
                  <a:pt x="22078" y="98890"/>
                </a:lnTo>
                <a:lnTo>
                  <a:pt x="31521" y="32963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8" name="Text 6"/>
          <p:cNvSpPr/>
          <p:nvPr/>
        </p:nvSpPr>
        <p:spPr>
          <a:xfrm>
            <a:off x="831000" y="1511913"/>
            <a:ext cx="5067221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1: Customer Input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0153" y="1863521"/>
            <a:ext cx="5230166" cy="703216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580153" y="1863521"/>
            <a:ext cx="35161" cy="703216"/>
          </a:xfrm>
          <a:custGeom>
            <a:avLst/>
            <a:gdLst/>
            <a:ahLst/>
            <a:cxnLst/>
            <a:rect l="l" t="t" r="r" b="b"/>
            <a:pathLst>
              <a:path w="35161" h="703216">
                <a:moveTo>
                  <a:pt x="35179" y="0"/>
                </a:moveTo>
                <a:lnTo>
                  <a:pt x="35179" y="0"/>
                </a:lnTo>
                <a:lnTo>
                  <a:pt x="35179" y="703199"/>
                </a:lnTo>
                <a:lnTo>
                  <a:pt x="35179" y="703199"/>
                </a:lnTo>
                <a:cubicBezTo>
                  <a:pt x="15750" y="703199"/>
                  <a:pt x="0" y="687449"/>
                  <a:pt x="0" y="668020"/>
                </a:cubicBezTo>
                <a:lnTo>
                  <a:pt x="0" y="35179"/>
                </a:lnTo>
                <a:cubicBezTo>
                  <a:pt x="0" y="15763"/>
                  <a:pt x="15763" y="0"/>
                  <a:pt x="35179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1" name="Text 9"/>
          <p:cNvSpPr/>
          <p:nvPr/>
        </p:nvSpPr>
        <p:spPr>
          <a:xfrm>
            <a:off x="738376" y="2004164"/>
            <a:ext cx="5001621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"I've been waiting for 3 days for my order and still haven't received any update. This is completely unacceptable! I'm extremely frustrated with your service."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9188" y="2883184"/>
            <a:ext cx="5616934" cy="1547074"/>
          </a:xfrm>
          <a:custGeom>
            <a:avLst/>
            <a:gdLst/>
            <a:ahLst/>
            <a:cxnLst/>
            <a:rect l="l" t="t" r="r" b="b"/>
            <a:pathLst>
              <a:path w="5616934" h="1547074">
                <a:moveTo>
                  <a:pt x="35179" y="0"/>
                </a:moveTo>
                <a:lnTo>
                  <a:pt x="5546598" y="0"/>
                </a:lnTo>
                <a:cubicBezTo>
                  <a:pt x="5585456" y="0"/>
                  <a:pt x="5616956" y="31500"/>
                  <a:pt x="5616956" y="70358"/>
                </a:cubicBezTo>
                <a:lnTo>
                  <a:pt x="5616956" y="1476756"/>
                </a:lnTo>
                <a:cubicBezTo>
                  <a:pt x="5616956" y="1515614"/>
                  <a:pt x="5585456" y="1547114"/>
                  <a:pt x="5546598" y="1547114"/>
                </a:cubicBezTo>
                <a:lnTo>
                  <a:pt x="35179" y="1547114"/>
                </a:lnTo>
                <a:cubicBezTo>
                  <a:pt x="15750" y="1547114"/>
                  <a:pt x="0" y="1531364"/>
                  <a:pt x="0" y="1511935"/>
                </a:cubicBezTo>
                <a:lnTo>
                  <a:pt x="0" y="35179"/>
                </a:lnTo>
                <a:cubicBezTo>
                  <a:pt x="0" y="15763"/>
                  <a:pt x="15763" y="0"/>
                  <a:pt x="3517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69188" y="2883184"/>
            <a:ext cx="35161" cy="1547074"/>
          </a:xfrm>
          <a:custGeom>
            <a:avLst/>
            <a:gdLst/>
            <a:ahLst/>
            <a:cxnLst/>
            <a:rect l="l" t="t" r="r" b="b"/>
            <a:pathLst>
              <a:path w="35161" h="1547074">
                <a:moveTo>
                  <a:pt x="35179" y="0"/>
                </a:moveTo>
                <a:lnTo>
                  <a:pt x="35179" y="0"/>
                </a:lnTo>
                <a:lnTo>
                  <a:pt x="35179" y="1547114"/>
                </a:lnTo>
                <a:lnTo>
                  <a:pt x="35179" y="1547114"/>
                </a:lnTo>
                <a:cubicBezTo>
                  <a:pt x="15750" y="1547114"/>
                  <a:pt x="0" y="1531364"/>
                  <a:pt x="0" y="1511935"/>
                </a:cubicBezTo>
                <a:lnTo>
                  <a:pt x="0" y="35179"/>
                </a:lnTo>
                <a:cubicBezTo>
                  <a:pt x="0" y="15763"/>
                  <a:pt x="15763" y="0"/>
                  <a:pt x="3517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4" name="Shape 12"/>
          <p:cNvSpPr/>
          <p:nvPr/>
        </p:nvSpPr>
        <p:spPr>
          <a:xfrm>
            <a:off x="584548" y="3087118"/>
            <a:ext cx="175804" cy="175804"/>
          </a:xfrm>
          <a:custGeom>
            <a:avLst/>
            <a:gdLst/>
            <a:ahLst/>
            <a:cxnLst/>
            <a:rect l="l" t="t" r="r" b="b"/>
            <a:pathLst>
              <a:path w="175804" h="175804">
                <a:moveTo>
                  <a:pt x="21975" y="21975"/>
                </a:moveTo>
                <a:cubicBezTo>
                  <a:pt x="21975" y="15898"/>
                  <a:pt x="17065" y="10988"/>
                  <a:pt x="10988" y="10988"/>
                </a:cubicBezTo>
                <a:cubicBezTo>
                  <a:pt x="4910" y="10988"/>
                  <a:pt x="0" y="15898"/>
                  <a:pt x="0" y="21975"/>
                </a:cubicBezTo>
                <a:lnTo>
                  <a:pt x="0" y="137347"/>
                </a:lnTo>
                <a:cubicBezTo>
                  <a:pt x="0" y="152524"/>
                  <a:pt x="12293" y="164816"/>
                  <a:pt x="27469" y="164816"/>
                </a:cubicBezTo>
                <a:lnTo>
                  <a:pt x="164816" y="164816"/>
                </a:lnTo>
                <a:cubicBezTo>
                  <a:pt x="170894" y="164816"/>
                  <a:pt x="175804" y="159906"/>
                  <a:pt x="175804" y="153828"/>
                </a:cubicBezTo>
                <a:cubicBezTo>
                  <a:pt x="175804" y="147751"/>
                  <a:pt x="170894" y="142841"/>
                  <a:pt x="164816" y="142841"/>
                </a:cubicBezTo>
                <a:lnTo>
                  <a:pt x="27469" y="142841"/>
                </a:lnTo>
                <a:cubicBezTo>
                  <a:pt x="24448" y="142841"/>
                  <a:pt x="21975" y="140368"/>
                  <a:pt x="21975" y="137347"/>
                </a:cubicBezTo>
                <a:lnTo>
                  <a:pt x="21975" y="21975"/>
                </a:lnTo>
                <a:close/>
                <a:moveTo>
                  <a:pt x="161589" y="51711"/>
                </a:moveTo>
                <a:cubicBezTo>
                  <a:pt x="165881" y="47419"/>
                  <a:pt x="165881" y="40449"/>
                  <a:pt x="161589" y="36157"/>
                </a:cubicBezTo>
                <a:cubicBezTo>
                  <a:pt x="157296" y="31864"/>
                  <a:pt x="150326" y="31864"/>
                  <a:pt x="146034" y="36157"/>
                </a:cubicBezTo>
                <a:lnTo>
                  <a:pt x="109877" y="72347"/>
                </a:lnTo>
                <a:lnTo>
                  <a:pt x="90168" y="52672"/>
                </a:lnTo>
                <a:cubicBezTo>
                  <a:pt x="85876" y="48380"/>
                  <a:pt x="78906" y="48380"/>
                  <a:pt x="74614" y="52672"/>
                </a:cubicBezTo>
                <a:lnTo>
                  <a:pt x="41650" y="85636"/>
                </a:lnTo>
                <a:cubicBezTo>
                  <a:pt x="37358" y="89928"/>
                  <a:pt x="37358" y="96898"/>
                  <a:pt x="41650" y="101190"/>
                </a:cubicBezTo>
                <a:cubicBezTo>
                  <a:pt x="45943" y="105482"/>
                  <a:pt x="52913" y="105482"/>
                  <a:pt x="57205" y="101190"/>
                </a:cubicBezTo>
                <a:lnTo>
                  <a:pt x="82408" y="75987"/>
                </a:lnTo>
                <a:lnTo>
                  <a:pt x="102117" y="95696"/>
                </a:lnTo>
                <a:cubicBezTo>
                  <a:pt x="106409" y="99988"/>
                  <a:pt x="113380" y="99988"/>
                  <a:pt x="117672" y="95696"/>
                </a:cubicBezTo>
                <a:lnTo>
                  <a:pt x="161623" y="51745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5" name="Text 13"/>
          <p:cNvSpPr/>
          <p:nvPr/>
        </p:nvSpPr>
        <p:spPr>
          <a:xfrm>
            <a:off x="831000" y="3058988"/>
            <a:ext cx="5067221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2: Analysis Results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2572" y="3428176"/>
            <a:ext cx="738376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Sentiment: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13256" y="3410596"/>
            <a:ext cx="703216" cy="246125"/>
          </a:xfrm>
          <a:prstGeom prst="roundRect">
            <a:avLst>
              <a:gd name="adj" fmla="val 14286"/>
            </a:avLst>
          </a:prstGeom>
          <a:solidFill>
            <a:srgbClr val="FB2C36"/>
          </a:solidFill>
          <a:ln/>
        </p:spPr>
      </p:sp>
      <p:sp>
        <p:nvSpPr>
          <p:cNvPr id="18" name="Text 16"/>
          <p:cNvSpPr/>
          <p:nvPr/>
        </p:nvSpPr>
        <p:spPr>
          <a:xfrm>
            <a:off x="5113256" y="3410596"/>
            <a:ext cx="764747" cy="246125"/>
          </a:xfrm>
          <a:prstGeom prst="rect">
            <a:avLst/>
          </a:prstGeom>
          <a:noFill/>
          <a:ln/>
        </p:spPr>
        <p:txBody>
          <a:bodyPr wrap="square" lIns="105482" tIns="35161" rIns="105482" bIns="35161" rtlCol="0" anchor="ctr"/>
          <a:lstStyle/>
          <a:p>
            <a:pPr>
              <a:lnSpc>
                <a:spcPct val="120000"/>
              </a:lnSpc>
            </a:pPr>
            <a:r>
              <a:rPr lang="en-US" sz="96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Negative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2572" y="3744623"/>
            <a:ext cx="624104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Emotion: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08543" y="3727043"/>
            <a:ext cx="808698" cy="246125"/>
          </a:xfrm>
          <a:prstGeom prst="roundRect">
            <a:avLst>
              <a:gd name="adj" fmla="val 14286"/>
            </a:avLst>
          </a:prstGeom>
          <a:solidFill>
            <a:srgbClr val="FF6900"/>
          </a:solidFill>
          <a:ln/>
        </p:spPr>
      </p:sp>
      <p:sp>
        <p:nvSpPr>
          <p:cNvPr id="21" name="Text 19"/>
          <p:cNvSpPr/>
          <p:nvPr/>
        </p:nvSpPr>
        <p:spPr>
          <a:xfrm>
            <a:off x="5008543" y="3727043"/>
            <a:ext cx="870229" cy="246125"/>
          </a:xfrm>
          <a:prstGeom prst="rect">
            <a:avLst/>
          </a:prstGeom>
          <a:noFill/>
          <a:ln/>
        </p:spPr>
        <p:txBody>
          <a:bodyPr wrap="square" lIns="105482" tIns="35161" rIns="105482" bIns="35161" rtlCol="0" anchor="ctr"/>
          <a:lstStyle/>
          <a:p>
            <a:pPr>
              <a:lnSpc>
                <a:spcPct val="120000"/>
              </a:lnSpc>
            </a:pPr>
            <a:r>
              <a:rPr lang="en-US" sz="96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Frustration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2572" y="4043490"/>
            <a:ext cx="641684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Intensity: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59602" y="4043490"/>
            <a:ext cx="527412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E700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85/100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9944" y="1353690"/>
            <a:ext cx="5634515" cy="4061070"/>
          </a:xfrm>
          <a:custGeom>
            <a:avLst/>
            <a:gdLst/>
            <a:ahLst/>
            <a:cxnLst/>
            <a:rect l="l" t="t" r="r" b="b"/>
            <a:pathLst>
              <a:path w="5634515" h="4061070">
                <a:moveTo>
                  <a:pt x="35179" y="0"/>
                </a:moveTo>
                <a:lnTo>
                  <a:pt x="5599303" y="0"/>
                </a:lnTo>
                <a:cubicBezTo>
                  <a:pt x="5618732" y="0"/>
                  <a:pt x="5634482" y="15750"/>
                  <a:pt x="5634482" y="35179"/>
                </a:cubicBezTo>
                <a:lnTo>
                  <a:pt x="5634482" y="3990721"/>
                </a:lnTo>
                <a:cubicBezTo>
                  <a:pt x="5634482" y="4029579"/>
                  <a:pt x="5602982" y="4061079"/>
                  <a:pt x="5564124" y="4061079"/>
                </a:cubicBezTo>
                <a:lnTo>
                  <a:pt x="70358" y="4061079"/>
                </a:lnTo>
                <a:cubicBezTo>
                  <a:pt x="31500" y="4061079"/>
                  <a:pt x="0" y="4029579"/>
                  <a:pt x="0" y="3990721"/>
                </a:cubicBezTo>
                <a:lnTo>
                  <a:pt x="0" y="35179"/>
                </a:lnTo>
                <a:cubicBezTo>
                  <a:pt x="0" y="15763"/>
                  <a:pt x="15763" y="0"/>
                  <a:pt x="3517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199944" y="1353690"/>
            <a:ext cx="5634515" cy="35161"/>
          </a:xfrm>
          <a:custGeom>
            <a:avLst/>
            <a:gdLst/>
            <a:ahLst/>
            <a:cxnLst/>
            <a:rect l="l" t="t" r="r" b="b"/>
            <a:pathLst>
              <a:path w="5634515" h="35161">
                <a:moveTo>
                  <a:pt x="35179" y="0"/>
                </a:moveTo>
                <a:lnTo>
                  <a:pt x="5599303" y="0"/>
                </a:lnTo>
                <a:cubicBezTo>
                  <a:pt x="5618732" y="0"/>
                  <a:pt x="5634482" y="15750"/>
                  <a:pt x="5634482" y="35179"/>
                </a:cubicBezTo>
                <a:lnTo>
                  <a:pt x="5634482" y="35179"/>
                </a:lnTo>
                <a:lnTo>
                  <a:pt x="0" y="35179"/>
                </a:lnTo>
                <a:lnTo>
                  <a:pt x="0" y="35179"/>
                </a:lnTo>
                <a:cubicBezTo>
                  <a:pt x="0" y="15763"/>
                  <a:pt x="15763" y="0"/>
                  <a:pt x="35179" y="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26" name="Shape 24"/>
          <p:cNvSpPr/>
          <p:nvPr/>
        </p:nvSpPr>
        <p:spPr>
          <a:xfrm>
            <a:off x="6386736" y="1575205"/>
            <a:ext cx="197779" cy="175804"/>
          </a:xfrm>
          <a:custGeom>
            <a:avLst/>
            <a:gdLst/>
            <a:ahLst/>
            <a:cxnLst/>
            <a:rect l="l" t="t" r="r" b="b"/>
            <a:pathLst>
              <a:path w="197779" h="175804">
                <a:moveTo>
                  <a:pt x="184182" y="-9031"/>
                </a:moveTo>
                <a:cubicBezTo>
                  <a:pt x="187547" y="-10232"/>
                  <a:pt x="191255" y="-9374"/>
                  <a:pt x="193796" y="-6867"/>
                </a:cubicBezTo>
                <a:cubicBezTo>
                  <a:pt x="196337" y="-4361"/>
                  <a:pt x="197161" y="-618"/>
                  <a:pt x="195960" y="2747"/>
                </a:cubicBezTo>
                <a:lnTo>
                  <a:pt x="134840" y="173366"/>
                </a:lnTo>
                <a:cubicBezTo>
                  <a:pt x="133123" y="178139"/>
                  <a:pt x="128625" y="181298"/>
                  <a:pt x="123578" y="181298"/>
                </a:cubicBezTo>
                <a:cubicBezTo>
                  <a:pt x="118702" y="181298"/>
                  <a:pt x="114307" y="178345"/>
                  <a:pt x="112487" y="173847"/>
                </a:cubicBezTo>
                <a:lnTo>
                  <a:pt x="90443" y="119595"/>
                </a:lnTo>
                <a:cubicBezTo>
                  <a:pt x="88898" y="115818"/>
                  <a:pt x="89584" y="111491"/>
                  <a:pt x="92228" y="108401"/>
                </a:cubicBezTo>
                <a:lnTo>
                  <a:pt x="124677" y="69807"/>
                </a:lnTo>
                <a:cubicBezTo>
                  <a:pt x="126428" y="67712"/>
                  <a:pt x="126290" y="64656"/>
                  <a:pt x="124368" y="62733"/>
                </a:cubicBezTo>
                <a:cubicBezTo>
                  <a:pt x="122445" y="60810"/>
                  <a:pt x="119354" y="60673"/>
                  <a:pt x="117294" y="62424"/>
                </a:cubicBezTo>
                <a:lnTo>
                  <a:pt x="78700" y="94804"/>
                </a:lnTo>
                <a:cubicBezTo>
                  <a:pt x="75575" y="97413"/>
                  <a:pt x="71283" y="98100"/>
                  <a:pt x="67506" y="96589"/>
                </a:cubicBezTo>
                <a:lnTo>
                  <a:pt x="13082" y="74442"/>
                </a:lnTo>
                <a:cubicBezTo>
                  <a:pt x="8584" y="72622"/>
                  <a:pt x="5631" y="68227"/>
                  <a:pt x="5631" y="63351"/>
                </a:cubicBezTo>
                <a:cubicBezTo>
                  <a:pt x="5631" y="58304"/>
                  <a:pt x="8790" y="53806"/>
                  <a:pt x="13563" y="52089"/>
                </a:cubicBezTo>
                <a:lnTo>
                  <a:pt x="184182" y="-9031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27" name="Text 25"/>
          <p:cNvSpPr/>
          <p:nvPr/>
        </p:nvSpPr>
        <p:spPr>
          <a:xfrm>
            <a:off x="6644175" y="1547074"/>
            <a:ext cx="5102382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3: Generated Responses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93328" y="1933843"/>
            <a:ext cx="35161" cy="1107565"/>
          </a:xfrm>
          <a:prstGeom prst="roundRect">
            <a:avLst>
              <a:gd name="adj" fmla="val 0"/>
            </a:avLst>
          </a:prstGeom>
          <a:solidFill>
            <a:srgbClr val="2980B9"/>
          </a:solidFill>
          <a:ln/>
        </p:spPr>
      </p:sp>
      <p:sp>
        <p:nvSpPr>
          <p:cNvPr id="29" name="Text 27"/>
          <p:cNvSpPr/>
          <p:nvPr/>
        </p:nvSpPr>
        <p:spPr>
          <a:xfrm>
            <a:off x="6551552" y="2004164"/>
            <a:ext cx="5177425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Response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51552" y="2285451"/>
            <a:ext cx="5177425" cy="685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 sincerely apologize for the delay in your order delivery. I completely understand your frustration, and I'm here to help resolve this immediately. Let me check the status of your order right now and provide you with an updated timeline."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93328" y="3146890"/>
            <a:ext cx="35161" cy="879019"/>
          </a:xfrm>
          <a:prstGeom prst="roundRect">
            <a:avLst>
              <a:gd name="adj" fmla="val 0"/>
            </a:avLst>
          </a:prstGeom>
          <a:solidFill>
            <a:srgbClr val="2C3E50"/>
          </a:solidFill>
          <a:ln/>
        </p:spPr>
      </p:sp>
      <p:sp>
        <p:nvSpPr>
          <p:cNvPr id="32" name="Text 30"/>
          <p:cNvSpPr/>
          <p:nvPr/>
        </p:nvSpPr>
        <p:spPr>
          <a:xfrm>
            <a:off x="6551552" y="3217211"/>
            <a:ext cx="5177425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Short Response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51552" y="3498497"/>
            <a:ext cx="5177425" cy="457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 apologize for the delay. I'm checking your order status now and will update you within 10 minutes."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93328" y="4131391"/>
            <a:ext cx="35161" cy="1107565"/>
          </a:xfrm>
          <a:prstGeom prst="roundRect">
            <a:avLst>
              <a:gd name="adj" fmla="val 0"/>
            </a:avLst>
          </a:prstGeom>
          <a:solidFill>
            <a:srgbClr val="2980B9"/>
          </a:solidFill>
          <a:ln/>
        </p:spPr>
      </p:sp>
      <p:sp>
        <p:nvSpPr>
          <p:cNvPr id="35" name="Text 33"/>
          <p:cNvSpPr/>
          <p:nvPr/>
        </p:nvSpPr>
        <p:spPr>
          <a:xfrm>
            <a:off x="6551552" y="4201713"/>
            <a:ext cx="5177425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De-escalation Response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51552" y="4482999"/>
            <a:ext cx="5177425" cy="685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 truly understand how frustrating this must be for you, and I take full responsibility for this delay. Your satisfaction is our priority, and I'm personally ensuring this gets resolved today with appropriate compensation."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51608" y="5555403"/>
            <a:ext cx="11488784" cy="492251"/>
          </a:xfrm>
          <a:prstGeom prst="roundRect">
            <a:avLst>
              <a:gd name="adj" fmla="val 14286"/>
            </a:avLst>
          </a:prstGeom>
          <a:solidFill>
            <a:srgbClr val="2C3E50"/>
          </a:solidFill>
          <a:ln/>
        </p:spPr>
      </p:sp>
      <p:sp>
        <p:nvSpPr>
          <p:cNvPr id="38" name="Shape 36"/>
          <p:cNvSpPr/>
          <p:nvPr/>
        </p:nvSpPr>
        <p:spPr>
          <a:xfrm>
            <a:off x="2147774" y="5724176"/>
            <a:ext cx="105482" cy="140643"/>
          </a:xfrm>
          <a:custGeom>
            <a:avLst/>
            <a:gdLst/>
            <a:ahLst/>
            <a:cxnLst/>
            <a:rect l="l" t="t" r="r" b="b"/>
            <a:pathLst>
              <a:path w="105482" h="140643">
                <a:moveTo>
                  <a:pt x="80458" y="105482"/>
                </a:moveTo>
                <a:cubicBezTo>
                  <a:pt x="82463" y="99357"/>
                  <a:pt x="86474" y="93808"/>
                  <a:pt x="91006" y="89028"/>
                </a:cubicBezTo>
                <a:cubicBezTo>
                  <a:pt x="99988" y="79579"/>
                  <a:pt x="105482" y="66805"/>
                  <a:pt x="105482" y="52741"/>
                </a:cubicBezTo>
                <a:cubicBezTo>
                  <a:pt x="105482" y="23624"/>
                  <a:pt x="81859" y="0"/>
                  <a:pt x="52741" y="0"/>
                </a:cubicBezTo>
                <a:cubicBezTo>
                  <a:pt x="23624" y="0"/>
                  <a:pt x="0" y="23624"/>
                  <a:pt x="0" y="52741"/>
                </a:cubicBezTo>
                <a:cubicBezTo>
                  <a:pt x="0" y="66805"/>
                  <a:pt x="5494" y="79579"/>
                  <a:pt x="14476" y="89028"/>
                </a:cubicBezTo>
                <a:cubicBezTo>
                  <a:pt x="19009" y="93808"/>
                  <a:pt x="23047" y="99357"/>
                  <a:pt x="25025" y="105482"/>
                </a:cubicBezTo>
                <a:lnTo>
                  <a:pt x="80430" y="105482"/>
                </a:lnTo>
                <a:close/>
                <a:moveTo>
                  <a:pt x="79112" y="118668"/>
                </a:moveTo>
                <a:lnTo>
                  <a:pt x="26371" y="118668"/>
                </a:lnTo>
                <a:lnTo>
                  <a:pt x="26371" y="123063"/>
                </a:lnTo>
                <a:cubicBezTo>
                  <a:pt x="26371" y="135204"/>
                  <a:pt x="36205" y="145038"/>
                  <a:pt x="48346" y="145038"/>
                </a:cubicBezTo>
                <a:lnTo>
                  <a:pt x="57136" y="145038"/>
                </a:lnTo>
                <a:cubicBezTo>
                  <a:pt x="69278" y="145038"/>
                  <a:pt x="79112" y="135204"/>
                  <a:pt x="79112" y="123063"/>
                </a:cubicBezTo>
                <a:lnTo>
                  <a:pt x="79112" y="118668"/>
                </a:lnTo>
                <a:close/>
                <a:moveTo>
                  <a:pt x="50544" y="30766"/>
                </a:moveTo>
                <a:cubicBezTo>
                  <a:pt x="39611" y="30766"/>
                  <a:pt x="30766" y="39611"/>
                  <a:pt x="30766" y="50544"/>
                </a:cubicBezTo>
                <a:cubicBezTo>
                  <a:pt x="30766" y="54197"/>
                  <a:pt x="27826" y="57136"/>
                  <a:pt x="24173" y="57136"/>
                </a:cubicBezTo>
                <a:cubicBezTo>
                  <a:pt x="20520" y="57136"/>
                  <a:pt x="17580" y="54197"/>
                  <a:pt x="17580" y="50544"/>
                </a:cubicBezTo>
                <a:cubicBezTo>
                  <a:pt x="17580" y="32331"/>
                  <a:pt x="32331" y="17580"/>
                  <a:pt x="50544" y="17580"/>
                </a:cubicBezTo>
                <a:cubicBezTo>
                  <a:pt x="54197" y="17580"/>
                  <a:pt x="57136" y="20520"/>
                  <a:pt x="57136" y="24173"/>
                </a:cubicBezTo>
                <a:cubicBezTo>
                  <a:pt x="57136" y="27826"/>
                  <a:pt x="54197" y="30766"/>
                  <a:pt x="50544" y="3076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81566" y="5696046"/>
            <a:ext cx="1105334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Guidance:</a:t>
            </a:r>
            <a:r>
              <a:rPr lang="en-US" sz="1107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 acknowledge frustration • Do offer immediate action • Don't make excuses • Don't use generic apologies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850" y="374850"/>
            <a:ext cx="1151727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kern="0" spc="59" dirty="0">
                <a:solidFill>
                  <a:srgbClr val="2980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4850" y="674730"/>
            <a:ext cx="11610982" cy="37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56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4850" y="1162035"/>
            <a:ext cx="899640" cy="37485"/>
          </a:xfrm>
          <a:prstGeom prst="roundRect">
            <a:avLst>
              <a:gd name="adj" fmla="val 0"/>
            </a:avLst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393593" y="1499400"/>
            <a:ext cx="5594638" cy="2174131"/>
          </a:xfrm>
          <a:custGeom>
            <a:avLst/>
            <a:gdLst/>
            <a:ahLst/>
            <a:cxnLst/>
            <a:rect l="l" t="t" r="r" b="b"/>
            <a:pathLst>
              <a:path w="5594638" h="2174131">
                <a:moveTo>
                  <a:pt x="37465" y="0"/>
                </a:moveTo>
                <a:lnTo>
                  <a:pt x="5519674" y="0"/>
                </a:lnTo>
                <a:cubicBezTo>
                  <a:pt x="5561057" y="0"/>
                  <a:pt x="5594604" y="33547"/>
                  <a:pt x="5594604" y="74930"/>
                </a:cubicBezTo>
                <a:lnTo>
                  <a:pt x="5594604" y="2099183"/>
                </a:lnTo>
                <a:cubicBezTo>
                  <a:pt x="5594604" y="2140566"/>
                  <a:pt x="5561057" y="2174113"/>
                  <a:pt x="5519674" y="2174113"/>
                </a:cubicBezTo>
                <a:lnTo>
                  <a:pt x="37465" y="2174113"/>
                </a:lnTo>
                <a:cubicBezTo>
                  <a:pt x="16774" y="2174113"/>
                  <a:pt x="0" y="2157339"/>
                  <a:pt x="0" y="2136648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93593" y="1499400"/>
            <a:ext cx="37485" cy="2174131"/>
          </a:xfrm>
          <a:custGeom>
            <a:avLst/>
            <a:gdLst/>
            <a:ahLst/>
            <a:cxnLst/>
            <a:rect l="l" t="t" r="r" b="b"/>
            <a:pathLst>
              <a:path w="37485" h="2174131">
                <a:moveTo>
                  <a:pt x="37465" y="0"/>
                </a:moveTo>
                <a:lnTo>
                  <a:pt x="37465" y="0"/>
                </a:lnTo>
                <a:lnTo>
                  <a:pt x="37465" y="2174113"/>
                </a:lnTo>
                <a:lnTo>
                  <a:pt x="37465" y="2174113"/>
                </a:lnTo>
                <a:cubicBezTo>
                  <a:pt x="16774" y="2174113"/>
                  <a:pt x="0" y="2157339"/>
                  <a:pt x="0" y="2136648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7" name="Shape 5"/>
          <p:cNvSpPr/>
          <p:nvPr/>
        </p:nvSpPr>
        <p:spPr>
          <a:xfrm>
            <a:off x="599760" y="1686826"/>
            <a:ext cx="524790" cy="524790"/>
          </a:xfrm>
          <a:prstGeom prst="roundRect">
            <a:avLst>
              <a:gd name="adj" fmla="val 14286"/>
            </a:avLst>
          </a:prstGeom>
          <a:solidFill>
            <a:srgbClr val="2980B9"/>
          </a:solidFill>
          <a:ln/>
        </p:spPr>
      </p:sp>
      <p:sp>
        <p:nvSpPr>
          <p:cNvPr id="8" name="Shape 6"/>
          <p:cNvSpPr/>
          <p:nvPr/>
        </p:nvSpPr>
        <p:spPr>
          <a:xfrm>
            <a:off x="763757" y="1836766"/>
            <a:ext cx="196796" cy="224910"/>
          </a:xfrm>
          <a:custGeom>
            <a:avLst/>
            <a:gdLst/>
            <a:ahLst/>
            <a:cxnLst/>
            <a:rect l="l" t="t" r="r" b="b"/>
            <a:pathLst>
              <a:path w="196796" h="224910">
                <a:moveTo>
                  <a:pt x="193194" y="88075"/>
                </a:moveTo>
                <a:cubicBezTo>
                  <a:pt x="189812" y="74501"/>
                  <a:pt x="183398" y="64266"/>
                  <a:pt x="169737" y="64266"/>
                </a:cubicBezTo>
                <a:lnTo>
                  <a:pt x="152122" y="64266"/>
                </a:lnTo>
                <a:lnTo>
                  <a:pt x="152122" y="85088"/>
                </a:lnTo>
                <a:cubicBezTo>
                  <a:pt x="152122" y="101253"/>
                  <a:pt x="138416" y="114871"/>
                  <a:pt x="122778" y="114871"/>
                </a:cubicBezTo>
                <a:lnTo>
                  <a:pt x="75863" y="114871"/>
                </a:lnTo>
                <a:cubicBezTo>
                  <a:pt x="63036" y="114871"/>
                  <a:pt x="52406" y="125853"/>
                  <a:pt x="52406" y="138724"/>
                </a:cubicBezTo>
                <a:lnTo>
                  <a:pt x="52406" y="183442"/>
                </a:lnTo>
                <a:cubicBezTo>
                  <a:pt x="52406" y="196181"/>
                  <a:pt x="63476" y="203649"/>
                  <a:pt x="75863" y="207295"/>
                </a:cubicBezTo>
                <a:cubicBezTo>
                  <a:pt x="90711" y="211644"/>
                  <a:pt x="104987" y="212435"/>
                  <a:pt x="122778" y="207295"/>
                </a:cubicBezTo>
                <a:cubicBezTo>
                  <a:pt x="134595" y="203869"/>
                  <a:pt x="146235" y="196972"/>
                  <a:pt x="146235" y="183442"/>
                </a:cubicBezTo>
                <a:lnTo>
                  <a:pt x="146235" y="165564"/>
                </a:lnTo>
                <a:lnTo>
                  <a:pt x="99365" y="165564"/>
                </a:lnTo>
                <a:lnTo>
                  <a:pt x="99365" y="159590"/>
                </a:lnTo>
                <a:lnTo>
                  <a:pt x="169737" y="159590"/>
                </a:lnTo>
                <a:cubicBezTo>
                  <a:pt x="183398" y="159590"/>
                  <a:pt x="188450" y="150057"/>
                  <a:pt x="193194" y="135781"/>
                </a:cubicBezTo>
                <a:cubicBezTo>
                  <a:pt x="198114" y="121065"/>
                  <a:pt x="197895" y="106920"/>
                  <a:pt x="193194" y="88075"/>
                </a:cubicBezTo>
                <a:close/>
                <a:moveTo>
                  <a:pt x="125721" y="195347"/>
                </a:moveTo>
                <a:cubicBezTo>
                  <a:pt x="122378" y="195581"/>
                  <a:pt x="119183" y="193931"/>
                  <a:pt x="117440" y="191068"/>
                </a:cubicBezTo>
                <a:cubicBezTo>
                  <a:pt x="115697" y="188205"/>
                  <a:pt x="115697" y="184609"/>
                  <a:pt x="117440" y="181747"/>
                </a:cubicBezTo>
                <a:cubicBezTo>
                  <a:pt x="119183" y="178884"/>
                  <a:pt x="122378" y="177234"/>
                  <a:pt x="125721" y="177468"/>
                </a:cubicBezTo>
                <a:cubicBezTo>
                  <a:pt x="129064" y="177234"/>
                  <a:pt x="132259" y="178884"/>
                  <a:pt x="134002" y="181747"/>
                </a:cubicBezTo>
                <a:cubicBezTo>
                  <a:pt x="135745" y="184609"/>
                  <a:pt x="135745" y="188205"/>
                  <a:pt x="134002" y="191068"/>
                </a:cubicBezTo>
                <a:cubicBezTo>
                  <a:pt x="132259" y="193931"/>
                  <a:pt x="129064" y="195581"/>
                  <a:pt x="125721" y="195347"/>
                </a:cubicBezTo>
                <a:close/>
                <a:moveTo>
                  <a:pt x="73711" y="108985"/>
                </a:moveTo>
                <a:lnTo>
                  <a:pt x="120626" y="108985"/>
                </a:lnTo>
                <a:cubicBezTo>
                  <a:pt x="133672" y="108985"/>
                  <a:pt x="144083" y="98222"/>
                  <a:pt x="144083" y="85132"/>
                </a:cubicBezTo>
                <a:lnTo>
                  <a:pt x="144083" y="40370"/>
                </a:lnTo>
                <a:cubicBezTo>
                  <a:pt x="144083" y="27631"/>
                  <a:pt x="133365" y="18098"/>
                  <a:pt x="120626" y="15946"/>
                </a:cubicBezTo>
                <a:cubicBezTo>
                  <a:pt x="104899" y="13354"/>
                  <a:pt x="87812" y="13486"/>
                  <a:pt x="73711" y="15990"/>
                </a:cubicBezTo>
                <a:cubicBezTo>
                  <a:pt x="53855" y="19504"/>
                  <a:pt x="50253" y="26840"/>
                  <a:pt x="50253" y="40414"/>
                </a:cubicBezTo>
                <a:lnTo>
                  <a:pt x="50253" y="58292"/>
                </a:lnTo>
                <a:lnTo>
                  <a:pt x="97212" y="58292"/>
                </a:lnTo>
                <a:lnTo>
                  <a:pt x="97212" y="64266"/>
                </a:lnTo>
                <a:lnTo>
                  <a:pt x="32638" y="64266"/>
                </a:lnTo>
                <a:cubicBezTo>
                  <a:pt x="18977" y="64266"/>
                  <a:pt x="7028" y="72481"/>
                  <a:pt x="3295" y="88075"/>
                </a:cubicBezTo>
                <a:cubicBezTo>
                  <a:pt x="-1010" y="105954"/>
                  <a:pt x="-1186" y="117111"/>
                  <a:pt x="3295" y="135781"/>
                </a:cubicBezTo>
                <a:cubicBezTo>
                  <a:pt x="6633" y="149662"/>
                  <a:pt x="14584" y="159590"/>
                  <a:pt x="28246" y="159590"/>
                </a:cubicBezTo>
                <a:lnTo>
                  <a:pt x="44367" y="159590"/>
                </a:lnTo>
                <a:lnTo>
                  <a:pt x="44367" y="138153"/>
                </a:lnTo>
                <a:cubicBezTo>
                  <a:pt x="44367" y="122646"/>
                  <a:pt x="57765" y="108985"/>
                  <a:pt x="73711" y="108985"/>
                </a:cubicBezTo>
                <a:close/>
                <a:moveTo>
                  <a:pt x="70812" y="28421"/>
                </a:moveTo>
                <a:cubicBezTo>
                  <a:pt x="75757" y="28421"/>
                  <a:pt x="79773" y="32437"/>
                  <a:pt x="79773" y="37383"/>
                </a:cubicBezTo>
                <a:cubicBezTo>
                  <a:pt x="79773" y="42328"/>
                  <a:pt x="75757" y="46344"/>
                  <a:pt x="70812" y="46344"/>
                </a:cubicBezTo>
                <a:cubicBezTo>
                  <a:pt x="65866" y="46344"/>
                  <a:pt x="61850" y="42328"/>
                  <a:pt x="61850" y="37383"/>
                </a:cubicBezTo>
                <a:cubicBezTo>
                  <a:pt x="61850" y="32437"/>
                  <a:pt x="65866" y="28421"/>
                  <a:pt x="70812" y="2842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37005" y="1724311"/>
            <a:ext cx="1171407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7005" y="1986706"/>
            <a:ext cx="1143293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&amp; API Layer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3817" y="2436526"/>
            <a:ext cx="112455" cy="112455"/>
          </a:xfrm>
          <a:custGeom>
            <a:avLst/>
            <a:gdLst/>
            <a:ahLst/>
            <a:cxnLst/>
            <a:rect l="l" t="t" r="r" b="b"/>
            <a:pathLst>
              <a:path w="112455" h="112455">
                <a:moveTo>
                  <a:pt x="0" y="56228"/>
                </a:moveTo>
                <a:cubicBezTo>
                  <a:pt x="0" y="25195"/>
                  <a:pt x="25195" y="0"/>
                  <a:pt x="56228" y="0"/>
                </a:cubicBezTo>
                <a:cubicBezTo>
                  <a:pt x="87260" y="0"/>
                  <a:pt x="112455" y="25195"/>
                  <a:pt x="112455" y="56228"/>
                </a:cubicBezTo>
                <a:cubicBezTo>
                  <a:pt x="112455" y="87260"/>
                  <a:pt x="87260" y="112455"/>
                  <a:pt x="56228" y="112455"/>
                </a:cubicBezTo>
                <a:cubicBezTo>
                  <a:pt x="25195" y="112455"/>
                  <a:pt x="0" y="87260"/>
                  <a:pt x="0" y="56228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815299" y="2361556"/>
            <a:ext cx="2736406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r>
              <a:rPr lang="en-US" sz="118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Primary programming language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3817" y="2736406"/>
            <a:ext cx="112455" cy="112455"/>
          </a:xfrm>
          <a:custGeom>
            <a:avLst/>
            <a:gdLst/>
            <a:ahLst/>
            <a:cxnLst/>
            <a:rect l="l" t="t" r="r" b="b"/>
            <a:pathLst>
              <a:path w="112455" h="112455">
                <a:moveTo>
                  <a:pt x="0" y="56228"/>
                </a:moveTo>
                <a:cubicBezTo>
                  <a:pt x="0" y="25195"/>
                  <a:pt x="25195" y="0"/>
                  <a:pt x="56228" y="0"/>
                </a:cubicBezTo>
                <a:cubicBezTo>
                  <a:pt x="87260" y="0"/>
                  <a:pt x="112455" y="25195"/>
                  <a:pt x="112455" y="56228"/>
                </a:cubicBezTo>
                <a:cubicBezTo>
                  <a:pt x="112455" y="87260"/>
                  <a:pt x="87260" y="112455"/>
                  <a:pt x="56228" y="112455"/>
                </a:cubicBezTo>
                <a:cubicBezTo>
                  <a:pt x="25195" y="112455"/>
                  <a:pt x="0" y="87260"/>
                  <a:pt x="0" y="56228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815299" y="2661436"/>
            <a:ext cx="298943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</a:t>
            </a:r>
            <a:r>
              <a:rPr lang="en-US" sz="118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High-performance web framework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3817" y="3036286"/>
            <a:ext cx="112455" cy="112455"/>
          </a:xfrm>
          <a:custGeom>
            <a:avLst/>
            <a:gdLst/>
            <a:ahLst/>
            <a:cxnLst/>
            <a:rect l="l" t="t" r="r" b="b"/>
            <a:pathLst>
              <a:path w="112455" h="112455">
                <a:moveTo>
                  <a:pt x="0" y="56228"/>
                </a:moveTo>
                <a:cubicBezTo>
                  <a:pt x="0" y="25195"/>
                  <a:pt x="25195" y="0"/>
                  <a:pt x="56228" y="0"/>
                </a:cubicBezTo>
                <a:cubicBezTo>
                  <a:pt x="87260" y="0"/>
                  <a:pt x="112455" y="25195"/>
                  <a:pt x="112455" y="56228"/>
                </a:cubicBezTo>
                <a:cubicBezTo>
                  <a:pt x="112455" y="87260"/>
                  <a:pt x="87260" y="112455"/>
                  <a:pt x="56228" y="112455"/>
                </a:cubicBezTo>
                <a:cubicBezTo>
                  <a:pt x="25195" y="112455"/>
                  <a:pt x="0" y="87260"/>
                  <a:pt x="0" y="56228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16" name="Text 14"/>
          <p:cNvSpPr/>
          <p:nvPr/>
        </p:nvSpPr>
        <p:spPr>
          <a:xfrm>
            <a:off x="815299" y="2961316"/>
            <a:ext cx="1340089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RESTful API design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3817" y="3336166"/>
            <a:ext cx="112455" cy="112455"/>
          </a:xfrm>
          <a:custGeom>
            <a:avLst/>
            <a:gdLst/>
            <a:ahLst/>
            <a:cxnLst/>
            <a:rect l="l" t="t" r="r" b="b"/>
            <a:pathLst>
              <a:path w="112455" h="112455">
                <a:moveTo>
                  <a:pt x="0" y="56228"/>
                </a:moveTo>
                <a:cubicBezTo>
                  <a:pt x="0" y="25195"/>
                  <a:pt x="25195" y="0"/>
                  <a:pt x="56228" y="0"/>
                </a:cubicBezTo>
                <a:cubicBezTo>
                  <a:pt x="87260" y="0"/>
                  <a:pt x="112455" y="25195"/>
                  <a:pt x="112455" y="56228"/>
                </a:cubicBezTo>
                <a:cubicBezTo>
                  <a:pt x="112455" y="87260"/>
                  <a:pt x="87260" y="112455"/>
                  <a:pt x="56228" y="112455"/>
                </a:cubicBezTo>
                <a:cubicBezTo>
                  <a:pt x="25195" y="112455"/>
                  <a:pt x="0" y="87260"/>
                  <a:pt x="0" y="56228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18" name="Text 16"/>
          <p:cNvSpPr/>
          <p:nvPr/>
        </p:nvSpPr>
        <p:spPr>
          <a:xfrm>
            <a:off x="815299" y="3261196"/>
            <a:ext cx="2155388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Asynchronous request handling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3593" y="3860956"/>
            <a:ext cx="5594638" cy="2174131"/>
          </a:xfrm>
          <a:custGeom>
            <a:avLst/>
            <a:gdLst/>
            <a:ahLst/>
            <a:cxnLst/>
            <a:rect l="l" t="t" r="r" b="b"/>
            <a:pathLst>
              <a:path w="5594638" h="2174131">
                <a:moveTo>
                  <a:pt x="37465" y="0"/>
                </a:moveTo>
                <a:lnTo>
                  <a:pt x="5519674" y="0"/>
                </a:lnTo>
                <a:cubicBezTo>
                  <a:pt x="5561057" y="0"/>
                  <a:pt x="5594604" y="33547"/>
                  <a:pt x="5594604" y="74930"/>
                </a:cubicBezTo>
                <a:lnTo>
                  <a:pt x="5594604" y="2099183"/>
                </a:lnTo>
                <a:cubicBezTo>
                  <a:pt x="5594604" y="2140566"/>
                  <a:pt x="5561057" y="2174113"/>
                  <a:pt x="5519674" y="2174113"/>
                </a:cubicBezTo>
                <a:lnTo>
                  <a:pt x="37465" y="2174113"/>
                </a:lnTo>
                <a:cubicBezTo>
                  <a:pt x="16774" y="2174113"/>
                  <a:pt x="0" y="2157339"/>
                  <a:pt x="0" y="2136648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93593" y="3860956"/>
            <a:ext cx="37485" cy="2174131"/>
          </a:xfrm>
          <a:custGeom>
            <a:avLst/>
            <a:gdLst/>
            <a:ahLst/>
            <a:cxnLst/>
            <a:rect l="l" t="t" r="r" b="b"/>
            <a:pathLst>
              <a:path w="37485" h="2174131">
                <a:moveTo>
                  <a:pt x="37465" y="0"/>
                </a:moveTo>
                <a:lnTo>
                  <a:pt x="37465" y="0"/>
                </a:lnTo>
                <a:lnTo>
                  <a:pt x="37465" y="2174113"/>
                </a:lnTo>
                <a:lnTo>
                  <a:pt x="37465" y="2174113"/>
                </a:lnTo>
                <a:cubicBezTo>
                  <a:pt x="16774" y="2174113"/>
                  <a:pt x="0" y="2157339"/>
                  <a:pt x="0" y="2136648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1" name="Shape 19"/>
          <p:cNvSpPr/>
          <p:nvPr/>
        </p:nvSpPr>
        <p:spPr>
          <a:xfrm>
            <a:off x="599760" y="4048381"/>
            <a:ext cx="524790" cy="524790"/>
          </a:xfrm>
          <a:prstGeom prst="roundRect">
            <a:avLst>
              <a:gd name="adj" fmla="val 14286"/>
            </a:avLst>
          </a:prstGeom>
          <a:solidFill>
            <a:srgbClr val="2C3E50"/>
          </a:solidFill>
          <a:ln/>
        </p:spPr>
      </p:sp>
      <p:sp>
        <p:nvSpPr>
          <p:cNvPr id="22" name="Shape 20"/>
          <p:cNvSpPr/>
          <p:nvPr/>
        </p:nvSpPr>
        <p:spPr>
          <a:xfrm>
            <a:off x="721586" y="4198321"/>
            <a:ext cx="281138" cy="224910"/>
          </a:xfrm>
          <a:custGeom>
            <a:avLst/>
            <a:gdLst/>
            <a:ahLst/>
            <a:cxnLst/>
            <a:rect l="l" t="t" r="r" b="b"/>
            <a:pathLst>
              <a:path w="281138" h="224910">
                <a:moveTo>
                  <a:pt x="154626" y="0"/>
                </a:moveTo>
                <a:cubicBezTo>
                  <a:pt x="154626" y="-7775"/>
                  <a:pt x="148344" y="-14057"/>
                  <a:pt x="140569" y="-14057"/>
                </a:cubicBezTo>
                <a:cubicBezTo>
                  <a:pt x="132794" y="-14057"/>
                  <a:pt x="126512" y="-7775"/>
                  <a:pt x="126512" y="0"/>
                </a:cubicBezTo>
                <a:lnTo>
                  <a:pt x="126512" y="28114"/>
                </a:lnTo>
                <a:lnTo>
                  <a:pt x="84341" y="28114"/>
                </a:lnTo>
                <a:cubicBezTo>
                  <a:pt x="61060" y="28114"/>
                  <a:pt x="42171" y="47003"/>
                  <a:pt x="42171" y="70284"/>
                </a:cubicBezTo>
                <a:lnTo>
                  <a:pt x="42171" y="168683"/>
                </a:lnTo>
                <a:cubicBezTo>
                  <a:pt x="42171" y="191964"/>
                  <a:pt x="61060" y="210853"/>
                  <a:pt x="84341" y="210853"/>
                </a:cubicBezTo>
                <a:lnTo>
                  <a:pt x="196796" y="210853"/>
                </a:lnTo>
                <a:cubicBezTo>
                  <a:pt x="220078" y="210853"/>
                  <a:pt x="238967" y="191964"/>
                  <a:pt x="238967" y="168683"/>
                </a:cubicBezTo>
                <a:lnTo>
                  <a:pt x="238967" y="70284"/>
                </a:lnTo>
                <a:cubicBezTo>
                  <a:pt x="238967" y="47003"/>
                  <a:pt x="220078" y="28114"/>
                  <a:pt x="196796" y="28114"/>
                </a:cubicBezTo>
                <a:lnTo>
                  <a:pt x="154626" y="28114"/>
                </a:lnTo>
                <a:lnTo>
                  <a:pt x="154626" y="0"/>
                </a:lnTo>
                <a:close/>
                <a:moveTo>
                  <a:pt x="70284" y="161654"/>
                </a:moveTo>
                <a:cubicBezTo>
                  <a:pt x="70284" y="155812"/>
                  <a:pt x="74985" y="151111"/>
                  <a:pt x="80827" y="151111"/>
                </a:cubicBezTo>
                <a:lnTo>
                  <a:pt x="94884" y="151111"/>
                </a:lnTo>
                <a:cubicBezTo>
                  <a:pt x="100726" y="151111"/>
                  <a:pt x="105427" y="155812"/>
                  <a:pt x="105427" y="161654"/>
                </a:cubicBezTo>
                <a:cubicBezTo>
                  <a:pt x="105427" y="167497"/>
                  <a:pt x="100726" y="172197"/>
                  <a:pt x="94884" y="172197"/>
                </a:cubicBezTo>
                <a:lnTo>
                  <a:pt x="80827" y="172197"/>
                </a:lnTo>
                <a:cubicBezTo>
                  <a:pt x="74985" y="172197"/>
                  <a:pt x="70284" y="167497"/>
                  <a:pt x="70284" y="161654"/>
                </a:cubicBezTo>
                <a:close/>
                <a:moveTo>
                  <a:pt x="122998" y="161654"/>
                </a:moveTo>
                <a:cubicBezTo>
                  <a:pt x="122998" y="155812"/>
                  <a:pt x="127698" y="151111"/>
                  <a:pt x="133540" y="151111"/>
                </a:cubicBezTo>
                <a:lnTo>
                  <a:pt x="147597" y="151111"/>
                </a:lnTo>
                <a:cubicBezTo>
                  <a:pt x="153440" y="151111"/>
                  <a:pt x="158140" y="155812"/>
                  <a:pt x="158140" y="161654"/>
                </a:cubicBezTo>
                <a:cubicBezTo>
                  <a:pt x="158140" y="167497"/>
                  <a:pt x="153440" y="172197"/>
                  <a:pt x="147597" y="172197"/>
                </a:cubicBezTo>
                <a:lnTo>
                  <a:pt x="133540" y="172197"/>
                </a:lnTo>
                <a:cubicBezTo>
                  <a:pt x="127698" y="172197"/>
                  <a:pt x="122998" y="167497"/>
                  <a:pt x="122998" y="161654"/>
                </a:cubicBezTo>
                <a:close/>
                <a:moveTo>
                  <a:pt x="175711" y="161654"/>
                </a:moveTo>
                <a:cubicBezTo>
                  <a:pt x="175711" y="155812"/>
                  <a:pt x="180411" y="151111"/>
                  <a:pt x="186254" y="151111"/>
                </a:cubicBezTo>
                <a:lnTo>
                  <a:pt x="200311" y="151111"/>
                </a:lnTo>
                <a:cubicBezTo>
                  <a:pt x="206153" y="151111"/>
                  <a:pt x="210853" y="155812"/>
                  <a:pt x="210853" y="161654"/>
                </a:cubicBezTo>
                <a:cubicBezTo>
                  <a:pt x="210853" y="167497"/>
                  <a:pt x="206153" y="172197"/>
                  <a:pt x="200311" y="172197"/>
                </a:cubicBezTo>
                <a:lnTo>
                  <a:pt x="186254" y="172197"/>
                </a:lnTo>
                <a:cubicBezTo>
                  <a:pt x="180411" y="172197"/>
                  <a:pt x="175711" y="167497"/>
                  <a:pt x="175711" y="161654"/>
                </a:cubicBezTo>
                <a:close/>
                <a:moveTo>
                  <a:pt x="98398" y="77313"/>
                </a:moveTo>
                <a:cubicBezTo>
                  <a:pt x="110035" y="77313"/>
                  <a:pt x="119483" y="86761"/>
                  <a:pt x="119483" y="98398"/>
                </a:cubicBezTo>
                <a:cubicBezTo>
                  <a:pt x="119483" y="110035"/>
                  <a:pt x="110035" y="119483"/>
                  <a:pt x="98398" y="119483"/>
                </a:cubicBezTo>
                <a:cubicBezTo>
                  <a:pt x="86761" y="119483"/>
                  <a:pt x="77313" y="110035"/>
                  <a:pt x="77313" y="98398"/>
                </a:cubicBezTo>
                <a:cubicBezTo>
                  <a:pt x="77313" y="86761"/>
                  <a:pt x="86761" y="77313"/>
                  <a:pt x="98398" y="77313"/>
                </a:cubicBezTo>
                <a:close/>
                <a:moveTo>
                  <a:pt x="161654" y="98398"/>
                </a:moveTo>
                <a:cubicBezTo>
                  <a:pt x="161654" y="86761"/>
                  <a:pt x="171102" y="77313"/>
                  <a:pt x="182739" y="77313"/>
                </a:cubicBezTo>
                <a:cubicBezTo>
                  <a:pt x="194377" y="77313"/>
                  <a:pt x="203825" y="86761"/>
                  <a:pt x="203825" y="98398"/>
                </a:cubicBezTo>
                <a:cubicBezTo>
                  <a:pt x="203825" y="110035"/>
                  <a:pt x="194377" y="119483"/>
                  <a:pt x="182739" y="119483"/>
                </a:cubicBezTo>
                <a:cubicBezTo>
                  <a:pt x="171102" y="119483"/>
                  <a:pt x="161654" y="110035"/>
                  <a:pt x="161654" y="98398"/>
                </a:cubicBezTo>
                <a:close/>
                <a:moveTo>
                  <a:pt x="28114" y="98398"/>
                </a:moveTo>
                <a:cubicBezTo>
                  <a:pt x="28114" y="90623"/>
                  <a:pt x="21832" y="84341"/>
                  <a:pt x="14057" y="84341"/>
                </a:cubicBezTo>
                <a:cubicBezTo>
                  <a:pt x="6282" y="84341"/>
                  <a:pt x="0" y="90623"/>
                  <a:pt x="0" y="98398"/>
                </a:cubicBezTo>
                <a:lnTo>
                  <a:pt x="0" y="140569"/>
                </a:lnTo>
                <a:cubicBezTo>
                  <a:pt x="0" y="148344"/>
                  <a:pt x="6282" y="154626"/>
                  <a:pt x="14057" y="154626"/>
                </a:cubicBezTo>
                <a:cubicBezTo>
                  <a:pt x="21832" y="154626"/>
                  <a:pt x="28114" y="148344"/>
                  <a:pt x="28114" y="140569"/>
                </a:cubicBezTo>
                <a:lnTo>
                  <a:pt x="28114" y="98398"/>
                </a:lnTo>
                <a:close/>
                <a:moveTo>
                  <a:pt x="267081" y="84341"/>
                </a:moveTo>
                <a:cubicBezTo>
                  <a:pt x="259305" y="84341"/>
                  <a:pt x="253024" y="90623"/>
                  <a:pt x="253024" y="98398"/>
                </a:cubicBezTo>
                <a:lnTo>
                  <a:pt x="253024" y="140569"/>
                </a:lnTo>
                <a:cubicBezTo>
                  <a:pt x="253024" y="148344"/>
                  <a:pt x="259305" y="154626"/>
                  <a:pt x="267081" y="154626"/>
                </a:cubicBezTo>
                <a:cubicBezTo>
                  <a:pt x="274856" y="154626"/>
                  <a:pt x="281138" y="148344"/>
                  <a:pt x="281138" y="140569"/>
                </a:cubicBezTo>
                <a:lnTo>
                  <a:pt x="281138" y="98398"/>
                </a:lnTo>
                <a:cubicBezTo>
                  <a:pt x="281138" y="90623"/>
                  <a:pt x="274856" y="84341"/>
                  <a:pt x="267081" y="84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237005" y="4085866"/>
            <a:ext cx="1115179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&amp; ML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7005" y="4348261"/>
            <a:ext cx="1087065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 Layer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3817" y="4798081"/>
            <a:ext cx="112455" cy="112455"/>
          </a:xfrm>
          <a:custGeom>
            <a:avLst/>
            <a:gdLst/>
            <a:ahLst/>
            <a:cxnLst/>
            <a:rect l="l" t="t" r="r" b="b"/>
            <a:pathLst>
              <a:path w="112455" h="112455">
                <a:moveTo>
                  <a:pt x="0" y="56228"/>
                </a:moveTo>
                <a:cubicBezTo>
                  <a:pt x="0" y="25195"/>
                  <a:pt x="25195" y="0"/>
                  <a:pt x="56228" y="0"/>
                </a:cubicBezTo>
                <a:cubicBezTo>
                  <a:pt x="87260" y="0"/>
                  <a:pt x="112455" y="25195"/>
                  <a:pt x="112455" y="56228"/>
                </a:cubicBezTo>
                <a:cubicBezTo>
                  <a:pt x="112455" y="87260"/>
                  <a:pt x="87260" y="112455"/>
                  <a:pt x="56228" y="112455"/>
                </a:cubicBezTo>
                <a:cubicBezTo>
                  <a:pt x="25195" y="112455"/>
                  <a:pt x="0" y="87260"/>
                  <a:pt x="0" y="56228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6" name="Text 24"/>
          <p:cNvSpPr/>
          <p:nvPr/>
        </p:nvSpPr>
        <p:spPr>
          <a:xfrm>
            <a:off x="815299" y="4723111"/>
            <a:ext cx="2717663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APIs</a:t>
            </a:r>
            <a:r>
              <a:rPr lang="en-US" sz="118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Primary response generation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3817" y="5097962"/>
            <a:ext cx="112455" cy="112455"/>
          </a:xfrm>
          <a:custGeom>
            <a:avLst/>
            <a:gdLst/>
            <a:ahLst/>
            <a:cxnLst/>
            <a:rect l="l" t="t" r="r" b="b"/>
            <a:pathLst>
              <a:path w="112455" h="112455">
                <a:moveTo>
                  <a:pt x="0" y="56228"/>
                </a:moveTo>
                <a:cubicBezTo>
                  <a:pt x="0" y="25195"/>
                  <a:pt x="25195" y="0"/>
                  <a:pt x="56228" y="0"/>
                </a:cubicBezTo>
                <a:cubicBezTo>
                  <a:pt x="87260" y="0"/>
                  <a:pt x="112455" y="25195"/>
                  <a:pt x="112455" y="56228"/>
                </a:cubicBezTo>
                <a:cubicBezTo>
                  <a:pt x="112455" y="87260"/>
                  <a:pt x="87260" y="112455"/>
                  <a:pt x="56228" y="112455"/>
                </a:cubicBezTo>
                <a:cubicBezTo>
                  <a:pt x="25195" y="112455"/>
                  <a:pt x="0" y="87260"/>
                  <a:pt x="0" y="56228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8" name="Text 26"/>
          <p:cNvSpPr/>
          <p:nvPr/>
        </p:nvSpPr>
        <p:spPr>
          <a:xfrm>
            <a:off x="815299" y="5022992"/>
            <a:ext cx="2502125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Transformers</a:t>
            </a:r>
            <a:r>
              <a:rPr lang="en-US" sz="118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Optional local models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3817" y="5397842"/>
            <a:ext cx="112455" cy="112455"/>
          </a:xfrm>
          <a:custGeom>
            <a:avLst/>
            <a:gdLst/>
            <a:ahLst/>
            <a:cxnLst/>
            <a:rect l="l" t="t" r="r" b="b"/>
            <a:pathLst>
              <a:path w="112455" h="112455">
                <a:moveTo>
                  <a:pt x="0" y="56228"/>
                </a:moveTo>
                <a:cubicBezTo>
                  <a:pt x="0" y="25195"/>
                  <a:pt x="25195" y="0"/>
                  <a:pt x="56228" y="0"/>
                </a:cubicBezTo>
                <a:cubicBezTo>
                  <a:pt x="87260" y="0"/>
                  <a:pt x="112455" y="25195"/>
                  <a:pt x="112455" y="56228"/>
                </a:cubicBezTo>
                <a:cubicBezTo>
                  <a:pt x="112455" y="87260"/>
                  <a:pt x="87260" y="112455"/>
                  <a:pt x="56228" y="112455"/>
                </a:cubicBezTo>
                <a:cubicBezTo>
                  <a:pt x="25195" y="112455"/>
                  <a:pt x="0" y="87260"/>
                  <a:pt x="0" y="56228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0" name="Text 28"/>
          <p:cNvSpPr/>
          <p:nvPr/>
        </p:nvSpPr>
        <p:spPr>
          <a:xfrm>
            <a:off x="815299" y="5322872"/>
            <a:ext cx="2080418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Rule-based sentiment analysis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3817" y="5697722"/>
            <a:ext cx="112455" cy="112455"/>
          </a:xfrm>
          <a:custGeom>
            <a:avLst/>
            <a:gdLst/>
            <a:ahLst/>
            <a:cxnLst/>
            <a:rect l="l" t="t" r="r" b="b"/>
            <a:pathLst>
              <a:path w="112455" h="112455">
                <a:moveTo>
                  <a:pt x="0" y="56228"/>
                </a:moveTo>
                <a:cubicBezTo>
                  <a:pt x="0" y="25195"/>
                  <a:pt x="25195" y="0"/>
                  <a:pt x="56228" y="0"/>
                </a:cubicBezTo>
                <a:cubicBezTo>
                  <a:pt x="87260" y="0"/>
                  <a:pt x="112455" y="25195"/>
                  <a:pt x="112455" y="56228"/>
                </a:cubicBezTo>
                <a:cubicBezTo>
                  <a:pt x="112455" y="87260"/>
                  <a:pt x="87260" y="112455"/>
                  <a:pt x="56228" y="112455"/>
                </a:cubicBezTo>
                <a:cubicBezTo>
                  <a:pt x="25195" y="112455"/>
                  <a:pt x="0" y="87260"/>
                  <a:pt x="0" y="56228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2" name="Text 30"/>
          <p:cNvSpPr/>
          <p:nvPr/>
        </p:nvSpPr>
        <p:spPr>
          <a:xfrm>
            <a:off x="815299" y="5622752"/>
            <a:ext cx="1752424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emotion detection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28721" y="1499400"/>
            <a:ext cx="5594638" cy="2174131"/>
          </a:xfrm>
          <a:custGeom>
            <a:avLst/>
            <a:gdLst/>
            <a:ahLst/>
            <a:cxnLst/>
            <a:rect l="l" t="t" r="r" b="b"/>
            <a:pathLst>
              <a:path w="5594638" h="2174131">
                <a:moveTo>
                  <a:pt x="37465" y="0"/>
                </a:moveTo>
                <a:lnTo>
                  <a:pt x="5519674" y="0"/>
                </a:lnTo>
                <a:cubicBezTo>
                  <a:pt x="5561057" y="0"/>
                  <a:pt x="5594604" y="33547"/>
                  <a:pt x="5594604" y="74930"/>
                </a:cubicBezTo>
                <a:lnTo>
                  <a:pt x="5594604" y="2099183"/>
                </a:lnTo>
                <a:cubicBezTo>
                  <a:pt x="5594604" y="2140566"/>
                  <a:pt x="5561057" y="2174113"/>
                  <a:pt x="5519674" y="2174113"/>
                </a:cubicBezTo>
                <a:lnTo>
                  <a:pt x="37465" y="2174113"/>
                </a:lnTo>
                <a:cubicBezTo>
                  <a:pt x="16774" y="2174113"/>
                  <a:pt x="0" y="2157339"/>
                  <a:pt x="0" y="2136648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6228721" y="1499400"/>
            <a:ext cx="37485" cy="2174131"/>
          </a:xfrm>
          <a:custGeom>
            <a:avLst/>
            <a:gdLst/>
            <a:ahLst/>
            <a:cxnLst/>
            <a:rect l="l" t="t" r="r" b="b"/>
            <a:pathLst>
              <a:path w="37485" h="2174131">
                <a:moveTo>
                  <a:pt x="37465" y="0"/>
                </a:moveTo>
                <a:lnTo>
                  <a:pt x="37465" y="0"/>
                </a:lnTo>
                <a:lnTo>
                  <a:pt x="37465" y="2174113"/>
                </a:lnTo>
                <a:lnTo>
                  <a:pt x="37465" y="2174113"/>
                </a:lnTo>
                <a:cubicBezTo>
                  <a:pt x="16774" y="2174113"/>
                  <a:pt x="0" y="2157339"/>
                  <a:pt x="0" y="2136648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35" name="Shape 33"/>
          <p:cNvSpPr/>
          <p:nvPr/>
        </p:nvSpPr>
        <p:spPr>
          <a:xfrm>
            <a:off x="6434888" y="1686826"/>
            <a:ext cx="524790" cy="524790"/>
          </a:xfrm>
          <a:prstGeom prst="roundRect">
            <a:avLst>
              <a:gd name="adj" fmla="val 14286"/>
            </a:avLst>
          </a:prstGeom>
          <a:solidFill>
            <a:srgbClr val="2980B9"/>
          </a:solidFill>
          <a:ln/>
        </p:spPr>
      </p:sp>
      <p:sp>
        <p:nvSpPr>
          <p:cNvPr id="36" name="Shape 34"/>
          <p:cNvSpPr/>
          <p:nvPr/>
        </p:nvSpPr>
        <p:spPr>
          <a:xfrm>
            <a:off x="6584828" y="1836766"/>
            <a:ext cx="224910" cy="224910"/>
          </a:xfrm>
          <a:custGeom>
            <a:avLst/>
            <a:gdLst/>
            <a:ahLst/>
            <a:cxnLst/>
            <a:rect l="l" t="t" r="r" b="b"/>
            <a:pathLst>
              <a:path w="224910" h="224910">
                <a:moveTo>
                  <a:pt x="183706" y="77840"/>
                </a:moveTo>
                <a:cubicBezTo>
                  <a:pt x="181334" y="77049"/>
                  <a:pt x="178962" y="76302"/>
                  <a:pt x="176590" y="75600"/>
                </a:cubicBezTo>
                <a:cubicBezTo>
                  <a:pt x="176985" y="73974"/>
                  <a:pt x="177336" y="72349"/>
                  <a:pt x="177688" y="70724"/>
                </a:cubicBezTo>
                <a:cubicBezTo>
                  <a:pt x="183091" y="44543"/>
                  <a:pt x="179533" y="23501"/>
                  <a:pt x="167540" y="16561"/>
                </a:cubicBezTo>
                <a:cubicBezTo>
                  <a:pt x="155987" y="9928"/>
                  <a:pt x="137142" y="16824"/>
                  <a:pt x="118078" y="33429"/>
                </a:cubicBezTo>
                <a:cubicBezTo>
                  <a:pt x="116189" y="35054"/>
                  <a:pt x="114344" y="36768"/>
                  <a:pt x="112587" y="38481"/>
                </a:cubicBezTo>
                <a:cubicBezTo>
                  <a:pt x="111401" y="37339"/>
                  <a:pt x="110171" y="36196"/>
                  <a:pt x="108941" y="35098"/>
                </a:cubicBezTo>
                <a:cubicBezTo>
                  <a:pt x="88954" y="17351"/>
                  <a:pt x="68923" y="9884"/>
                  <a:pt x="56930" y="16868"/>
                </a:cubicBezTo>
                <a:cubicBezTo>
                  <a:pt x="45421" y="23545"/>
                  <a:pt x="41995" y="43357"/>
                  <a:pt x="46827" y="68132"/>
                </a:cubicBezTo>
                <a:cubicBezTo>
                  <a:pt x="47310" y="70592"/>
                  <a:pt x="47837" y="73008"/>
                  <a:pt x="48452" y="75468"/>
                </a:cubicBezTo>
                <a:cubicBezTo>
                  <a:pt x="45641" y="76259"/>
                  <a:pt x="42873" y="77137"/>
                  <a:pt x="40282" y="78060"/>
                </a:cubicBezTo>
                <a:cubicBezTo>
                  <a:pt x="16824" y="86186"/>
                  <a:pt x="0" y="99013"/>
                  <a:pt x="0" y="112279"/>
                </a:cubicBezTo>
                <a:cubicBezTo>
                  <a:pt x="0" y="125985"/>
                  <a:pt x="17923" y="139734"/>
                  <a:pt x="42302" y="148080"/>
                </a:cubicBezTo>
                <a:cubicBezTo>
                  <a:pt x="44279" y="148739"/>
                  <a:pt x="46256" y="149398"/>
                  <a:pt x="48277" y="149969"/>
                </a:cubicBezTo>
                <a:cubicBezTo>
                  <a:pt x="47618" y="152605"/>
                  <a:pt x="47047" y="155197"/>
                  <a:pt x="46519" y="157876"/>
                </a:cubicBezTo>
                <a:cubicBezTo>
                  <a:pt x="41907" y="182256"/>
                  <a:pt x="45509" y="201584"/>
                  <a:pt x="57018" y="208218"/>
                </a:cubicBezTo>
                <a:cubicBezTo>
                  <a:pt x="68879" y="215070"/>
                  <a:pt x="88822" y="208042"/>
                  <a:pt x="108238" y="191042"/>
                </a:cubicBezTo>
                <a:cubicBezTo>
                  <a:pt x="109775" y="189680"/>
                  <a:pt x="111313" y="188274"/>
                  <a:pt x="112850" y="186781"/>
                </a:cubicBezTo>
                <a:cubicBezTo>
                  <a:pt x="114783" y="188670"/>
                  <a:pt x="116804" y="190471"/>
                  <a:pt x="118825" y="192228"/>
                </a:cubicBezTo>
                <a:cubicBezTo>
                  <a:pt x="137626" y="208393"/>
                  <a:pt x="156207" y="214938"/>
                  <a:pt x="167672" y="208305"/>
                </a:cubicBezTo>
                <a:cubicBezTo>
                  <a:pt x="179533" y="201453"/>
                  <a:pt x="183398" y="180675"/>
                  <a:pt x="178391" y="155372"/>
                </a:cubicBezTo>
                <a:cubicBezTo>
                  <a:pt x="177995" y="153440"/>
                  <a:pt x="177556" y="151463"/>
                  <a:pt x="177073" y="149442"/>
                </a:cubicBezTo>
                <a:cubicBezTo>
                  <a:pt x="178478" y="149047"/>
                  <a:pt x="179840" y="148608"/>
                  <a:pt x="181202" y="148168"/>
                </a:cubicBezTo>
                <a:cubicBezTo>
                  <a:pt x="206548" y="139778"/>
                  <a:pt x="224910" y="126204"/>
                  <a:pt x="224910" y="112279"/>
                </a:cubicBezTo>
                <a:cubicBezTo>
                  <a:pt x="224910" y="98969"/>
                  <a:pt x="207603" y="86054"/>
                  <a:pt x="183706" y="77840"/>
                </a:cubicBezTo>
                <a:close/>
                <a:moveTo>
                  <a:pt x="124272" y="40545"/>
                </a:moveTo>
                <a:cubicBezTo>
                  <a:pt x="140613" y="26313"/>
                  <a:pt x="155856" y="20734"/>
                  <a:pt x="162796" y="24731"/>
                </a:cubicBezTo>
                <a:cubicBezTo>
                  <a:pt x="170220" y="28992"/>
                  <a:pt x="173075" y="46212"/>
                  <a:pt x="168419" y="68835"/>
                </a:cubicBezTo>
                <a:cubicBezTo>
                  <a:pt x="168111" y="70328"/>
                  <a:pt x="167804" y="71778"/>
                  <a:pt x="167409" y="73228"/>
                </a:cubicBezTo>
                <a:cubicBezTo>
                  <a:pt x="157657" y="71031"/>
                  <a:pt x="147773" y="69450"/>
                  <a:pt x="137845" y="68571"/>
                </a:cubicBezTo>
                <a:cubicBezTo>
                  <a:pt x="132135" y="60401"/>
                  <a:pt x="125897" y="52582"/>
                  <a:pt x="119132" y="45246"/>
                </a:cubicBezTo>
                <a:cubicBezTo>
                  <a:pt x="120845" y="43620"/>
                  <a:pt x="122514" y="42083"/>
                  <a:pt x="124272" y="40545"/>
                </a:cubicBezTo>
                <a:close/>
                <a:moveTo>
                  <a:pt x="73447" y="135078"/>
                </a:moveTo>
                <a:cubicBezTo>
                  <a:pt x="75688" y="138900"/>
                  <a:pt x="77972" y="142721"/>
                  <a:pt x="80388" y="146455"/>
                </a:cubicBezTo>
                <a:cubicBezTo>
                  <a:pt x="73535" y="145708"/>
                  <a:pt x="66726" y="144610"/>
                  <a:pt x="60005" y="143161"/>
                </a:cubicBezTo>
                <a:cubicBezTo>
                  <a:pt x="61938" y="136835"/>
                  <a:pt x="64354" y="130290"/>
                  <a:pt x="67166" y="123613"/>
                </a:cubicBezTo>
                <a:cubicBezTo>
                  <a:pt x="69186" y="127478"/>
                  <a:pt x="71251" y="131300"/>
                  <a:pt x="73447" y="135078"/>
                </a:cubicBezTo>
                <a:close/>
                <a:moveTo>
                  <a:pt x="60137" y="82233"/>
                </a:moveTo>
                <a:cubicBezTo>
                  <a:pt x="66463" y="80827"/>
                  <a:pt x="73184" y="79685"/>
                  <a:pt x="80168" y="78806"/>
                </a:cubicBezTo>
                <a:cubicBezTo>
                  <a:pt x="77840" y="82452"/>
                  <a:pt x="75556" y="86186"/>
                  <a:pt x="73403" y="89964"/>
                </a:cubicBezTo>
                <a:cubicBezTo>
                  <a:pt x="71251" y="93698"/>
                  <a:pt x="69142" y="97520"/>
                  <a:pt x="67166" y="101385"/>
                </a:cubicBezTo>
                <a:cubicBezTo>
                  <a:pt x="64398" y="94840"/>
                  <a:pt x="62070" y="88427"/>
                  <a:pt x="60137" y="82233"/>
                </a:cubicBezTo>
                <a:close/>
                <a:moveTo>
                  <a:pt x="72173" y="112499"/>
                </a:moveTo>
                <a:cubicBezTo>
                  <a:pt x="75073" y="106437"/>
                  <a:pt x="78235" y="100507"/>
                  <a:pt x="81574" y="94664"/>
                </a:cubicBezTo>
                <a:cubicBezTo>
                  <a:pt x="84912" y="88822"/>
                  <a:pt x="88514" y="83155"/>
                  <a:pt x="92292" y="77576"/>
                </a:cubicBezTo>
                <a:cubicBezTo>
                  <a:pt x="98881" y="77093"/>
                  <a:pt x="105602" y="76830"/>
                  <a:pt x="112455" y="76830"/>
                </a:cubicBezTo>
                <a:cubicBezTo>
                  <a:pt x="119308" y="76830"/>
                  <a:pt x="126073" y="77093"/>
                  <a:pt x="132618" y="77576"/>
                </a:cubicBezTo>
                <a:cubicBezTo>
                  <a:pt x="136352" y="83111"/>
                  <a:pt x="139910" y="88778"/>
                  <a:pt x="143292" y="94576"/>
                </a:cubicBezTo>
                <a:cubicBezTo>
                  <a:pt x="146675" y="100375"/>
                  <a:pt x="149838" y="106305"/>
                  <a:pt x="152825" y="112323"/>
                </a:cubicBezTo>
                <a:cubicBezTo>
                  <a:pt x="149881" y="118385"/>
                  <a:pt x="146719" y="124359"/>
                  <a:pt x="143336" y="130246"/>
                </a:cubicBezTo>
                <a:cubicBezTo>
                  <a:pt x="139998" y="136088"/>
                  <a:pt x="136440" y="141755"/>
                  <a:pt x="132706" y="147378"/>
                </a:cubicBezTo>
                <a:cubicBezTo>
                  <a:pt x="126160" y="147861"/>
                  <a:pt x="119352" y="148080"/>
                  <a:pt x="112455" y="148080"/>
                </a:cubicBezTo>
                <a:cubicBezTo>
                  <a:pt x="105558" y="148080"/>
                  <a:pt x="98881" y="147861"/>
                  <a:pt x="92424" y="147465"/>
                </a:cubicBezTo>
                <a:cubicBezTo>
                  <a:pt x="88602" y="141887"/>
                  <a:pt x="85000" y="136176"/>
                  <a:pt x="81618" y="130334"/>
                </a:cubicBezTo>
                <a:cubicBezTo>
                  <a:pt x="78235" y="124491"/>
                  <a:pt x="75116" y="118561"/>
                  <a:pt x="72173" y="112499"/>
                </a:cubicBezTo>
                <a:close/>
                <a:moveTo>
                  <a:pt x="151507" y="134990"/>
                </a:moveTo>
                <a:cubicBezTo>
                  <a:pt x="153747" y="131124"/>
                  <a:pt x="155856" y="127215"/>
                  <a:pt x="157920" y="123261"/>
                </a:cubicBezTo>
                <a:cubicBezTo>
                  <a:pt x="160732" y="129631"/>
                  <a:pt x="163192" y="136088"/>
                  <a:pt x="165344" y="142721"/>
                </a:cubicBezTo>
                <a:cubicBezTo>
                  <a:pt x="158535" y="144259"/>
                  <a:pt x="151639" y="145445"/>
                  <a:pt x="144698" y="146235"/>
                </a:cubicBezTo>
                <a:cubicBezTo>
                  <a:pt x="147070" y="142546"/>
                  <a:pt x="149310" y="138768"/>
                  <a:pt x="151507" y="134990"/>
                </a:cubicBezTo>
                <a:close/>
                <a:moveTo>
                  <a:pt x="157832" y="101385"/>
                </a:moveTo>
                <a:cubicBezTo>
                  <a:pt x="155768" y="97520"/>
                  <a:pt x="153659" y="93654"/>
                  <a:pt x="151463" y="89876"/>
                </a:cubicBezTo>
                <a:cubicBezTo>
                  <a:pt x="149310" y="86142"/>
                  <a:pt x="147070" y="82452"/>
                  <a:pt x="144742" y="78806"/>
                </a:cubicBezTo>
                <a:cubicBezTo>
                  <a:pt x="151814" y="79685"/>
                  <a:pt x="158579" y="80871"/>
                  <a:pt x="164905" y="82321"/>
                </a:cubicBezTo>
                <a:cubicBezTo>
                  <a:pt x="162884" y="88822"/>
                  <a:pt x="160512" y="95148"/>
                  <a:pt x="157832" y="101385"/>
                </a:cubicBezTo>
                <a:close/>
                <a:moveTo>
                  <a:pt x="112543" y="51967"/>
                </a:moveTo>
                <a:cubicBezTo>
                  <a:pt x="117155" y="56974"/>
                  <a:pt x="121504" y="62246"/>
                  <a:pt x="125546" y="67693"/>
                </a:cubicBezTo>
                <a:cubicBezTo>
                  <a:pt x="116848" y="67297"/>
                  <a:pt x="108106" y="67297"/>
                  <a:pt x="99408" y="67693"/>
                </a:cubicBezTo>
                <a:cubicBezTo>
                  <a:pt x="103713" y="62026"/>
                  <a:pt x="108150" y="56755"/>
                  <a:pt x="112543" y="51967"/>
                </a:cubicBezTo>
                <a:close/>
                <a:moveTo>
                  <a:pt x="61587" y="25039"/>
                </a:moveTo>
                <a:cubicBezTo>
                  <a:pt x="68967" y="20734"/>
                  <a:pt x="85352" y="26884"/>
                  <a:pt x="102615" y="42171"/>
                </a:cubicBezTo>
                <a:cubicBezTo>
                  <a:pt x="103713" y="43137"/>
                  <a:pt x="104812" y="44191"/>
                  <a:pt x="105954" y="45246"/>
                </a:cubicBezTo>
                <a:cubicBezTo>
                  <a:pt x="99145" y="52582"/>
                  <a:pt x="92863" y="60401"/>
                  <a:pt x="87109" y="68571"/>
                </a:cubicBezTo>
                <a:cubicBezTo>
                  <a:pt x="77181" y="69450"/>
                  <a:pt x="67341" y="70987"/>
                  <a:pt x="57589" y="73140"/>
                </a:cubicBezTo>
                <a:cubicBezTo>
                  <a:pt x="57018" y="70899"/>
                  <a:pt x="56535" y="68615"/>
                  <a:pt x="56052" y="66331"/>
                </a:cubicBezTo>
                <a:cubicBezTo>
                  <a:pt x="51923" y="45070"/>
                  <a:pt x="54646" y="29036"/>
                  <a:pt x="61587" y="25039"/>
                </a:cubicBezTo>
                <a:close/>
                <a:moveTo>
                  <a:pt x="50824" y="140832"/>
                </a:moveTo>
                <a:cubicBezTo>
                  <a:pt x="48979" y="140305"/>
                  <a:pt x="47178" y="139734"/>
                  <a:pt x="45377" y="139119"/>
                </a:cubicBezTo>
                <a:cubicBezTo>
                  <a:pt x="36021" y="136176"/>
                  <a:pt x="25390" y="131520"/>
                  <a:pt x="17703" y="125414"/>
                </a:cubicBezTo>
                <a:cubicBezTo>
                  <a:pt x="13266" y="122339"/>
                  <a:pt x="10279" y="117595"/>
                  <a:pt x="9444" y="112279"/>
                </a:cubicBezTo>
                <a:cubicBezTo>
                  <a:pt x="9444" y="104241"/>
                  <a:pt x="23326" y="93961"/>
                  <a:pt x="43357" y="86977"/>
                </a:cubicBezTo>
                <a:cubicBezTo>
                  <a:pt x="45861" y="86098"/>
                  <a:pt x="48408" y="85308"/>
                  <a:pt x="50956" y="84561"/>
                </a:cubicBezTo>
                <a:cubicBezTo>
                  <a:pt x="53943" y="94093"/>
                  <a:pt x="57545" y="103450"/>
                  <a:pt x="61718" y="112499"/>
                </a:cubicBezTo>
                <a:cubicBezTo>
                  <a:pt x="57501" y="121680"/>
                  <a:pt x="53855" y="131168"/>
                  <a:pt x="50824" y="140832"/>
                </a:cubicBezTo>
                <a:close/>
                <a:moveTo>
                  <a:pt x="102044" y="183882"/>
                </a:moveTo>
                <a:cubicBezTo>
                  <a:pt x="94796" y="190515"/>
                  <a:pt x="86406" y="195786"/>
                  <a:pt x="77269" y="199388"/>
                </a:cubicBezTo>
                <a:cubicBezTo>
                  <a:pt x="72393" y="201716"/>
                  <a:pt x="66770" y="201936"/>
                  <a:pt x="61762" y="199959"/>
                </a:cubicBezTo>
                <a:cubicBezTo>
                  <a:pt x="54778" y="195918"/>
                  <a:pt x="51879" y="180411"/>
                  <a:pt x="55832" y="159546"/>
                </a:cubicBezTo>
                <a:cubicBezTo>
                  <a:pt x="56315" y="157086"/>
                  <a:pt x="56843" y="154626"/>
                  <a:pt x="57457" y="152210"/>
                </a:cubicBezTo>
                <a:cubicBezTo>
                  <a:pt x="67297" y="154318"/>
                  <a:pt x="77225" y="155768"/>
                  <a:pt x="87284" y="156515"/>
                </a:cubicBezTo>
                <a:cubicBezTo>
                  <a:pt x="93083" y="164729"/>
                  <a:pt x="99452" y="172592"/>
                  <a:pt x="106261" y="179972"/>
                </a:cubicBezTo>
                <a:cubicBezTo>
                  <a:pt x="104856" y="181334"/>
                  <a:pt x="103450" y="182652"/>
                  <a:pt x="102044" y="183882"/>
                </a:cubicBezTo>
                <a:close/>
                <a:moveTo>
                  <a:pt x="112806" y="173207"/>
                </a:moveTo>
                <a:cubicBezTo>
                  <a:pt x="108326" y="168375"/>
                  <a:pt x="103845" y="163016"/>
                  <a:pt x="99496" y="157261"/>
                </a:cubicBezTo>
                <a:cubicBezTo>
                  <a:pt x="103713" y="157437"/>
                  <a:pt x="108062" y="157525"/>
                  <a:pt x="112455" y="157525"/>
                </a:cubicBezTo>
                <a:cubicBezTo>
                  <a:pt x="116980" y="157525"/>
                  <a:pt x="121416" y="157437"/>
                  <a:pt x="125809" y="157217"/>
                </a:cubicBezTo>
                <a:cubicBezTo>
                  <a:pt x="121768" y="162796"/>
                  <a:pt x="117419" y="168111"/>
                  <a:pt x="112806" y="173207"/>
                </a:cubicBezTo>
                <a:close/>
                <a:moveTo>
                  <a:pt x="170220" y="186385"/>
                </a:moveTo>
                <a:cubicBezTo>
                  <a:pt x="169825" y="191745"/>
                  <a:pt x="167189" y="196752"/>
                  <a:pt x="162972" y="200135"/>
                </a:cubicBezTo>
                <a:cubicBezTo>
                  <a:pt x="155987" y="204176"/>
                  <a:pt x="141096" y="198905"/>
                  <a:pt x="125018" y="185112"/>
                </a:cubicBezTo>
                <a:cubicBezTo>
                  <a:pt x="123173" y="183530"/>
                  <a:pt x="121328" y="181817"/>
                  <a:pt x="119440" y="180060"/>
                </a:cubicBezTo>
                <a:cubicBezTo>
                  <a:pt x="126160" y="172636"/>
                  <a:pt x="132354" y="164773"/>
                  <a:pt x="137977" y="156515"/>
                </a:cubicBezTo>
                <a:cubicBezTo>
                  <a:pt x="148037" y="155680"/>
                  <a:pt x="158052" y="154142"/>
                  <a:pt x="167936" y="151902"/>
                </a:cubicBezTo>
                <a:cubicBezTo>
                  <a:pt x="168375" y="153703"/>
                  <a:pt x="168770" y="155504"/>
                  <a:pt x="169122" y="157261"/>
                </a:cubicBezTo>
                <a:cubicBezTo>
                  <a:pt x="171274" y="166750"/>
                  <a:pt x="171626" y="176633"/>
                  <a:pt x="170220" y="186385"/>
                </a:cubicBezTo>
                <a:close/>
                <a:moveTo>
                  <a:pt x="178215" y="139163"/>
                </a:moveTo>
                <a:cubicBezTo>
                  <a:pt x="176985" y="139558"/>
                  <a:pt x="175755" y="139954"/>
                  <a:pt x="174481" y="140305"/>
                </a:cubicBezTo>
                <a:cubicBezTo>
                  <a:pt x="171406" y="130729"/>
                  <a:pt x="167628" y="121372"/>
                  <a:pt x="163279" y="112279"/>
                </a:cubicBezTo>
                <a:cubicBezTo>
                  <a:pt x="167497" y="103318"/>
                  <a:pt x="171055" y="94093"/>
                  <a:pt x="174042" y="84649"/>
                </a:cubicBezTo>
                <a:cubicBezTo>
                  <a:pt x="176326" y="85308"/>
                  <a:pt x="178522" y="86011"/>
                  <a:pt x="180631" y="86713"/>
                </a:cubicBezTo>
                <a:cubicBezTo>
                  <a:pt x="201101" y="93742"/>
                  <a:pt x="215466" y="104197"/>
                  <a:pt x="215466" y="112191"/>
                </a:cubicBezTo>
                <a:cubicBezTo>
                  <a:pt x="215466" y="120801"/>
                  <a:pt x="200135" y="131915"/>
                  <a:pt x="178215" y="139163"/>
                </a:cubicBezTo>
                <a:close/>
                <a:moveTo>
                  <a:pt x="112455" y="132574"/>
                </a:moveTo>
                <a:cubicBezTo>
                  <a:pt x="123559" y="132574"/>
                  <a:pt x="132574" y="123559"/>
                  <a:pt x="132574" y="112455"/>
                </a:cubicBezTo>
                <a:cubicBezTo>
                  <a:pt x="132574" y="101351"/>
                  <a:pt x="123559" y="92336"/>
                  <a:pt x="112455" y="92336"/>
                </a:cubicBezTo>
                <a:cubicBezTo>
                  <a:pt x="101351" y="92336"/>
                  <a:pt x="92336" y="101351"/>
                  <a:pt x="92336" y="112455"/>
                </a:cubicBezTo>
                <a:cubicBezTo>
                  <a:pt x="92336" y="123559"/>
                  <a:pt x="101351" y="132574"/>
                  <a:pt x="112455" y="13257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7072133" y="1724311"/>
            <a:ext cx="909012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72133" y="1986706"/>
            <a:ext cx="880898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48945" y="2436526"/>
            <a:ext cx="112455" cy="112455"/>
          </a:xfrm>
          <a:custGeom>
            <a:avLst/>
            <a:gdLst/>
            <a:ahLst/>
            <a:cxnLst/>
            <a:rect l="l" t="t" r="r" b="b"/>
            <a:pathLst>
              <a:path w="112455" h="112455">
                <a:moveTo>
                  <a:pt x="0" y="56228"/>
                </a:moveTo>
                <a:cubicBezTo>
                  <a:pt x="0" y="25195"/>
                  <a:pt x="25195" y="0"/>
                  <a:pt x="56228" y="0"/>
                </a:cubicBezTo>
                <a:cubicBezTo>
                  <a:pt x="87260" y="0"/>
                  <a:pt x="112455" y="25195"/>
                  <a:pt x="112455" y="56228"/>
                </a:cubicBezTo>
                <a:cubicBezTo>
                  <a:pt x="112455" y="87260"/>
                  <a:pt x="87260" y="112455"/>
                  <a:pt x="56228" y="112455"/>
                </a:cubicBezTo>
                <a:cubicBezTo>
                  <a:pt x="25195" y="112455"/>
                  <a:pt x="0" y="87260"/>
                  <a:pt x="0" y="56228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40" name="Text 38"/>
          <p:cNvSpPr/>
          <p:nvPr/>
        </p:nvSpPr>
        <p:spPr>
          <a:xfrm>
            <a:off x="6650427" y="2361556"/>
            <a:ext cx="1461915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</a:t>
            </a:r>
            <a:r>
              <a:rPr lang="en-US" sz="118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UI framework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48945" y="2736406"/>
            <a:ext cx="112455" cy="112455"/>
          </a:xfrm>
          <a:custGeom>
            <a:avLst/>
            <a:gdLst/>
            <a:ahLst/>
            <a:cxnLst/>
            <a:rect l="l" t="t" r="r" b="b"/>
            <a:pathLst>
              <a:path w="112455" h="112455">
                <a:moveTo>
                  <a:pt x="0" y="56228"/>
                </a:moveTo>
                <a:cubicBezTo>
                  <a:pt x="0" y="25195"/>
                  <a:pt x="25195" y="0"/>
                  <a:pt x="56228" y="0"/>
                </a:cubicBezTo>
                <a:cubicBezTo>
                  <a:pt x="87260" y="0"/>
                  <a:pt x="112455" y="25195"/>
                  <a:pt x="112455" y="56228"/>
                </a:cubicBezTo>
                <a:cubicBezTo>
                  <a:pt x="112455" y="87260"/>
                  <a:pt x="87260" y="112455"/>
                  <a:pt x="56228" y="112455"/>
                </a:cubicBezTo>
                <a:cubicBezTo>
                  <a:pt x="25195" y="112455"/>
                  <a:pt x="0" y="87260"/>
                  <a:pt x="0" y="56228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42" name="Text 40"/>
          <p:cNvSpPr/>
          <p:nvPr/>
        </p:nvSpPr>
        <p:spPr>
          <a:xfrm>
            <a:off x="6650427" y="2661436"/>
            <a:ext cx="1077694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Vite</a:t>
            </a:r>
            <a:r>
              <a:rPr lang="en-US" sz="118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Build tool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48945" y="3036286"/>
            <a:ext cx="112455" cy="112455"/>
          </a:xfrm>
          <a:custGeom>
            <a:avLst/>
            <a:gdLst/>
            <a:ahLst/>
            <a:cxnLst/>
            <a:rect l="l" t="t" r="r" b="b"/>
            <a:pathLst>
              <a:path w="112455" h="112455">
                <a:moveTo>
                  <a:pt x="0" y="56228"/>
                </a:moveTo>
                <a:cubicBezTo>
                  <a:pt x="0" y="25195"/>
                  <a:pt x="25195" y="0"/>
                  <a:pt x="56228" y="0"/>
                </a:cubicBezTo>
                <a:cubicBezTo>
                  <a:pt x="87260" y="0"/>
                  <a:pt x="112455" y="25195"/>
                  <a:pt x="112455" y="56228"/>
                </a:cubicBezTo>
                <a:cubicBezTo>
                  <a:pt x="112455" y="87260"/>
                  <a:pt x="87260" y="112455"/>
                  <a:pt x="56228" y="112455"/>
                </a:cubicBezTo>
                <a:cubicBezTo>
                  <a:pt x="25195" y="112455"/>
                  <a:pt x="0" y="87260"/>
                  <a:pt x="0" y="56228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44" name="Text 42"/>
          <p:cNvSpPr/>
          <p:nvPr/>
        </p:nvSpPr>
        <p:spPr>
          <a:xfrm>
            <a:off x="6650427" y="2961316"/>
            <a:ext cx="1527514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Tailwind CSS</a:t>
            </a:r>
            <a:r>
              <a:rPr lang="en-US" sz="118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Styling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48945" y="3336166"/>
            <a:ext cx="112455" cy="112455"/>
          </a:xfrm>
          <a:custGeom>
            <a:avLst/>
            <a:gdLst/>
            <a:ahLst/>
            <a:cxnLst/>
            <a:rect l="l" t="t" r="r" b="b"/>
            <a:pathLst>
              <a:path w="112455" h="112455">
                <a:moveTo>
                  <a:pt x="0" y="56228"/>
                </a:moveTo>
                <a:cubicBezTo>
                  <a:pt x="0" y="25195"/>
                  <a:pt x="25195" y="0"/>
                  <a:pt x="56228" y="0"/>
                </a:cubicBezTo>
                <a:cubicBezTo>
                  <a:pt x="87260" y="0"/>
                  <a:pt x="112455" y="25195"/>
                  <a:pt x="112455" y="56228"/>
                </a:cubicBezTo>
                <a:cubicBezTo>
                  <a:pt x="112455" y="87260"/>
                  <a:pt x="87260" y="112455"/>
                  <a:pt x="56228" y="112455"/>
                </a:cubicBezTo>
                <a:cubicBezTo>
                  <a:pt x="25195" y="112455"/>
                  <a:pt x="0" y="87260"/>
                  <a:pt x="0" y="56228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46" name="Text 44"/>
          <p:cNvSpPr/>
          <p:nvPr/>
        </p:nvSpPr>
        <p:spPr>
          <a:xfrm>
            <a:off x="6650427" y="3261196"/>
            <a:ext cx="1311975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Responsive design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28721" y="3860956"/>
            <a:ext cx="5594638" cy="2174131"/>
          </a:xfrm>
          <a:custGeom>
            <a:avLst/>
            <a:gdLst/>
            <a:ahLst/>
            <a:cxnLst/>
            <a:rect l="l" t="t" r="r" b="b"/>
            <a:pathLst>
              <a:path w="5594638" h="2174131">
                <a:moveTo>
                  <a:pt x="37465" y="0"/>
                </a:moveTo>
                <a:lnTo>
                  <a:pt x="5519674" y="0"/>
                </a:lnTo>
                <a:cubicBezTo>
                  <a:pt x="5561057" y="0"/>
                  <a:pt x="5594604" y="33547"/>
                  <a:pt x="5594604" y="74930"/>
                </a:cubicBezTo>
                <a:lnTo>
                  <a:pt x="5594604" y="2099183"/>
                </a:lnTo>
                <a:cubicBezTo>
                  <a:pt x="5594604" y="2140566"/>
                  <a:pt x="5561057" y="2174113"/>
                  <a:pt x="5519674" y="2174113"/>
                </a:cubicBezTo>
                <a:lnTo>
                  <a:pt x="37465" y="2174113"/>
                </a:lnTo>
                <a:cubicBezTo>
                  <a:pt x="16774" y="2174113"/>
                  <a:pt x="0" y="2157339"/>
                  <a:pt x="0" y="2136648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228721" y="3860956"/>
            <a:ext cx="37485" cy="2174131"/>
          </a:xfrm>
          <a:custGeom>
            <a:avLst/>
            <a:gdLst/>
            <a:ahLst/>
            <a:cxnLst/>
            <a:rect l="l" t="t" r="r" b="b"/>
            <a:pathLst>
              <a:path w="37485" h="2174131">
                <a:moveTo>
                  <a:pt x="37465" y="0"/>
                </a:moveTo>
                <a:lnTo>
                  <a:pt x="37465" y="0"/>
                </a:lnTo>
                <a:lnTo>
                  <a:pt x="37465" y="2174113"/>
                </a:lnTo>
                <a:lnTo>
                  <a:pt x="37465" y="2174113"/>
                </a:lnTo>
                <a:cubicBezTo>
                  <a:pt x="16774" y="2174113"/>
                  <a:pt x="0" y="2157339"/>
                  <a:pt x="0" y="2136648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9" name="Shape 47"/>
          <p:cNvSpPr/>
          <p:nvPr/>
        </p:nvSpPr>
        <p:spPr>
          <a:xfrm>
            <a:off x="6434888" y="4048381"/>
            <a:ext cx="524790" cy="524790"/>
          </a:xfrm>
          <a:prstGeom prst="roundRect">
            <a:avLst>
              <a:gd name="adj" fmla="val 14286"/>
            </a:avLst>
          </a:prstGeom>
          <a:solidFill>
            <a:srgbClr val="2C3E50"/>
          </a:solidFill>
          <a:ln/>
        </p:spPr>
      </p:sp>
      <p:sp>
        <p:nvSpPr>
          <p:cNvPr id="50" name="Shape 48"/>
          <p:cNvSpPr/>
          <p:nvPr/>
        </p:nvSpPr>
        <p:spPr>
          <a:xfrm>
            <a:off x="6598885" y="4198321"/>
            <a:ext cx="196796" cy="224910"/>
          </a:xfrm>
          <a:custGeom>
            <a:avLst/>
            <a:gdLst/>
            <a:ahLst/>
            <a:cxnLst/>
            <a:rect l="l" t="t" r="r" b="b"/>
            <a:pathLst>
              <a:path w="196796" h="224910">
                <a:moveTo>
                  <a:pt x="196796" y="90403"/>
                </a:moveTo>
                <a:cubicBezTo>
                  <a:pt x="190295" y="94708"/>
                  <a:pt x="182827" y="98179"/>
                  <a:pt x="175052" y="100946"/>
                </a:cubicBezTo>
                <a:cubicBezTo>
                  <a:pt x="154406" y="108326"/>
                  <a:pt x="127303" y="112455"/>
                  <a:pt x="98398" y="112455"/>
                </a:cubicBezTo>
                <a:cubicBezTo>
                  <a:pt x="69494" y="112455"/>
                  <a:pt x="42346" y="108282"/>
                  <a:pt x="21744" y="100946"/>
                </a:cubicBezTo>
                <a:cubicBezTo>
                  <a:pt x="14013" y="98179"/>
                  <a:pt x="6501" y="94708"/>
                  <a:pt x="0" y="90403"/>
                </a:cubicBezTo>
                <a:lnTo>
                  <a:pt x="0" y="126512"/>
                </a:lnTo>
                <a:cubicBezTo>
                  <a:pt x="0" y="145928"/>
                  <a:pt x="44060" y="161654"/>
                  <a:pt x="98398" y="161654"/>
                </a:cubicBezTo>
                <a:cubicBezTo>
                  <a:pt x="152737" y="161654"/>
                  <a:pt x="196796" y="145928"/>
                  <a:pt x="196796" y="126512"/>
                </a:cubicBezTo>
                <a:lnTo>
                  <a:pt x="196796" y="90403"/>
                </a:lnTo>
                <a:close/>
                <a:moveTo>
                  <a:pt x="196796" y="56228"/>
                </a:moveTo>
                <a:lnTo>
                  <a:pt x="196796" y="35142"/>
                </a:lnTo>
                <a:cubicBezTo>
                  <a:pt x="196796" y="15726"/>
                  <a:pt x="152737" y="0"/>
                  <a:pt x="98398" y="0"/>
                </a:cubicBezTo>
                <a:cubicBezTo>
                  <a:pt x="44060" y="0"/>
                  <a:pt x="0" y="15726"/>
                  <a:pt x="0" y="35142"/>
                </a:cubicBezTo>
                <a:lnTo>
                  <a:pt x="0" y="56228"/>
                </a:lnTo>
                <a:cubicBezTo>
                  <a:pt x="0" y="75644"/>
                  <a:pt x="44060" y="91370"/>
                  <a:pt x="98398" y="91370"/>
                </a:cubicBezTo>
                <a:cubicBezTo>
                  <a:pt x="152737" y="91370"/>
                  <a:pt x="196796" y="75644"/>
                  <a:pt x="196796" y="56228"/>
                </a:cubicBezTo>
                <a:close/>
                <a:moveTo>
                  <a:pt x="175052" y="171230"/>
                </a:moveTo>
                <a:cubicBezTo>
                  <a:pt x="154450" y="178566"/>
                  <a:pt x="127347" y="182739"/>
                  <a:pt x="98398" y="182739"/>
                </a:cubicBezTo>
                <a:cubicBezTo>
                  <a:pt x="69450" y="182739"/>
                  <a:pt x="42346" y="178566"/>
                  <a:pt x="21744" y="171230"/>
                </a:cubicBezTo>
                <a:cubicBezTo>
                  <a:pt x="14013" y="168463"/>
                  <a:pt x="6501" y="164993"/>
                  <a:pt x="0" y="160688"/>
                </a:cubicBezTo>
                <a:lnTo>
                  <a:pt x="0" y="189768"/>
                </a:lnTo>
                <a:cubicBezTo>
                  <a:pt x="0" y="209184"/>
                  <a:pt x="44060" y="224910"/>
                  <a:pt x="98398" y="224910"/>
                </a:cubicBezTo>
                <a:cubicBezTo>
                  <a:pt x="152737" y="224910"/>
                  <a:pt x="196796" y="209184"/>
                  <a:pt x="196796" y="189768"/>
                </a:cubicBezTo>
                <a:lnTo>
                  <a:pt x="196796" y="160688"/>
                </a:lnTo>
                <a:cubicBezTo>
                  <a:pt x="190295" y="164993"/>
                  <a:pt x="182827" y="168463"/>
                  <a:pt x="175052" y="17123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7072133" y="4085866"/>
            <a:ext cx="871527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72133" y="4348261"/>
            <a:ext cx="843413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Storage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48945" y="4798081"/>
            <a:ext cx="112455" cy="112455"/>
          </a:xfrm>
          <a:custGeom>
            <a:avLst/>
            <a:gdLst/>
            <a:ahLst/>
            <a:cxnLst/>
            <a:rect l="l" t="t" r="r" b="b"/>
            <a:pathLst>
              <a:path w="112455" h="112455">
                <a:moveTo>
                  <a:pt x="0" y="56228"/>
                </a:moveTo>
                <a:cubicBezTo>
                  <a:pt x="0" y="25195"/>
                  <a:pt x="25195" y="0"/>
                  <a:pt x="56228" y="0"/>
                </a:cubicBezTo>
                <a:cubicBezTo>
                  <a:pt x="87260" y="0"/>
                  <a:pt x="112455" y="25195"/>
                  <a:pt x="112455" y="56228"/>
                </a:cubicBezTo>
                <a:cubicBezTo>
                  <a:pt x="112455" y="87260"/>
                  <a:pt x="87260" y="112455"/>
                  <a:pt x="56228" y="112455"/>
                </a:cubicBezTo>
                <a:cubicBezTo>
                  <a:pt x="25195" y="112455"/>
                  <a:pt x="0" y="87260"/>
                  <a:pt x="0" y="56228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54" name="Text 52"/>
          <p:cNvSpPr/>
          <p:nvPr/>
        </p:nvSpPr>
        <p:spPr>
          <a:xfrm>
            <a:off x="6650427" y="4723111"/>
            <a:ext cx="2071047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SQLite</a:t>
            </a:r>
            <a:r>
              <a:rPr lang="en-US" sz="118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Lightweight database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448945" y="5097962"/>
            <a:ext cx="112455" cy="112455"/>
          </a:xfrm>
          <a:custGeom>
            <a:avLst/>
            <a:gdLst/>
            <a:ahLst/>
            <a:cxnLst/>
            <a:rect l="l" t="t" r="r" b="b"/>
            <a:pathLst>
              <a:path w="112455" h="112455">
                <a:moveTo>
                  <a:pt x="0" y="56228"/>
                </a:moveTo>
                <a:cubicBezTo>
                  <a:pt x="0" y="25195"/>
                  <a:pt x="25195" y="0"/>
                  <a:pt x="56228" y="0"/>
                </a:cubicBezTo>
                <a:cubicBezTo>
                  <a:pt x="87260" y="0"/>
                  <a:pt x="112455" y="25195"/>
                  <a:pt x="112455" y="56228"/>
                </a:cubicBezTo>
                <a:cubicBezTo>
                  <a:pt x="112455" y="87260"/>
                  <a:pt x="87260" y="112455"/>
                  <a:pt x="56228" y="112455"/>
                </a:cubicBezTo>
                <a:cubicBezTo>
                  <a:pt x="25195" y="112455"/>
                  <a:pt x="0" y="87260"/>
                  <a:pt x="0" y="56228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56" name="Text 54"/>
          <p:cNvSpPr/>
          <p:nvPr/>
        </p:nvSpPr>
        <p:spPr>
          <a:xfrm>
            <a:off x="6650427" y="5022992"/>
            <a:ext cx="142443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 history storage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48945" y="5397842"/>
            <a:ext cx="112455" cy="112455"/>
          </a:xfrm>
          <a:custGeom>
            <a:avLst/>
            <a:gdLst/>
            <a:ahLst/>
            <a:cxnLst/>
            <a:rect l="l" t="t" r="r" b="b"/>
            <a:pathLst>
              <a:path w="112455" h="112455">
                <a:moveTo>
                  <a:pt x="0" y="56228"/>
                </a:moveTo>
                <a:cubicBezTo>
                  <a:pt x="0" y="25195"/>
                  <a:pt x="25195" y="0"/>
                  <a:pt x="56228" y="0"/>
                </a:cubicBezTo>
                <a:cubicBezTo>
                  <a:pt x="87260" y="0"/>
                  <a:pt x="112455" y="25195"/>
                  <a:pt x="112455" y="56228"/>
                </a:cubicBezTo>
                <a:cubicBezTo>
                  <a:pt x="112455" y="87260"/>
                  <a:pt x="87260" y="112455"/>
                  <a:pt x="56228" y="112455"/>
                </a:cubicBezTo>
                <a:cubicBezTo>
                  <a:pt x="25195" y="112455"/>
                  <a:pt x="0" y="87260"/>
                  <a:pt x="0" y="56228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58" name="Text 56"/>
          <p:cNvSpPr/>
          <p:nvPr/>
        </p:nvSpPr>
        <p:spPr>
          <a:xfrm>
            <a:off x="6650427" y="5322872"/>
            <a:ext cx="2249101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template management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448945" y="5697722"/>
            <a:ext cx="112455" cy="112455"/>
          </a:xfrm>
          <a:custGeom>
            <a:avLst/>
            <a:gdLst/>
            <a:ahLst/>
            <a:cxnLst/>
            <a:rect l="l" t="t" r="r" b="b"/>
            <a:pathLst>
              <a:path w="112455" h="112455">
                <a:moveTo>
                  <a:pt x="0" y="56228"/>
                </a:moveTo>
                <a:cubicBezTo>
                  <a:pt x="0" y="25195"/>
                  <a:pt x="25195" y="0"/>
                  <a:pt x="56228" y="0"/>
                </a:cubicBezTo>
                <a:cubicBezTo>
                  <a:pt x="87260" y="0"/>
                  <a:pt x="112455" y="25195"/>
                  <a:pt x="112455" y="56228"/>
                </a:cubicBezTo>
                <a:cubicBezTo>
                  <a:pt x="112455" y="87260"/>
                  <a:pt x="87260" y="112455"/>
                  <a:pt x="56228" y="112455"/>
                </a:cubicBezTo>
                <a:cubicBezTo>
                  <a:pt x="25195" y="112455"/>
                  <a:pt x="0" y="87260"/>
                  <a:pt x="0" y="56228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60" name="Text 58"/>
          <p:cNvSpPr/>
          <p:nvPr/>
        </p:nvSpPr>
        <p:spPr>
          <a:xfrm>
            <a:off x="6650427" y="5622752"/>
            <a:ext cx="1602484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and reporting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610275" y="6278739"/>
            <a:ext cx="187425" cy="187425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93713" y="187425"/>
                </a:moveTo>
                <a:cubicBezTo>
                  <a:pt x="145434" y="187425"/>
                  <a:pt x="187425" y="145434"/>
                  <a:pt x="187425" y="93713"/>
                </a:cubicBezTo>
                <a:cubicBezTo>
                  <a:pt x="187425" y="41991"/>
                  <a:pt x="145434" y="0"/>
                  <a:pt x="93713" y="0"/>
                </a:cubicBezTo>
                <a:cubicBezTo>
                  <a:pt x="41991" y="0"/>
                  <a:pt x="0" y="41991"/>
                  <a:pt x="0" y="93713"/>
                </a:cubicBezTo>
                <a:cubicBezTo>
                  <a:pt x="0" y="145434"/>
                  <a:pt x="41991" y="187425"/>
                  <a:pt x="93713" y="187425"/>
                </a:cubicBezTo>
                <a:close/>
                <a:moveTo>
                  <a:pt x="124608" y="77862"/>
                </a:moveTo>
                <a:lnTo>
                  <a:pt x="95323" y="124718"/>
                </a:lnTo>
                <a:cubicBezTo>
                  <a:pt x="93786" y="127171"/>
                  <a:pt x="91150" y="128708"/>
                  <a:pt x="88258" y="128855"/>
                </a:cubicBezTo>
                <a:cubicBezTo>
                  <a:pt x="85366" y="129001"/>
                  <a:pt x="82584" y="127683"/>
                  <a:pt x="80864" y="125341"/>
                </a:cubicBezTo>
                <a:lnTo>
                  <a:pt x="63293" y="101912"/>
                </a:lnTo>
                <a:cubicBezTo>
                  <a:pt x="60364" y="98032"/>
                  <a:pt x="61169" y="92541"/>
                  <a:pt x="65050" y="89613"/>
                </a:cubicBezTo>
                <a:cubicBezTo>
                  <a:pt x="68930" y="86684"/>
                  <a:pt x="74421" y="87489"/>
                  <a:pt x="77349" y="91370"/>
                </a:cubicBezTo>
                <a:lnTo>
                  <a:pt x="87233" y="104548"/>
                </a:lnTo>
                <a:lnTo>
                  <a:pt x="109710" y="68564"/>
                </a:lnTo>
                <a:cubicBezTo>
                  <a:pt x="112272" y="64464"/>
                  <a:pt x="117690" y="63183"/>
                  <a:pt x="121826" y="65782"/>
                </a:cubicBezTo>
                <a:cubicBezTo>
                  <a:pt x="125963" y="68381"/>
                  <a:pt x="127207" y="73762"/>
                  <a:pt x="124608" y="77899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62" name="Text 60"/>
          <p:cNvSpPr/>
          <p:nvPr/>
        </p:nvSpPr>
        <p:spPr>
          <a:xfrm>
            <a:off x="3896098" y="6259997"/>
            <a:ext cx="993353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Stack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5141772" y="6278739"/>
            <a:ext cx="187425" cy="187425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93713" y="187425"/>
                </a:moveTo>
                <a:cubicBezTo>
                  <a:pt x="145434" y="187425"/>
                  <a:pt x="187425" y="145434"/>
                  <a:pt x="187425" y="93713"/>
                </a:cubicBezTo>
                <a:cubicBezTo>
                  <a:pt x="187425" y="41991"/>
                  <a:pt x="145434" y="0"/>
                  <a:pt x="93713" y="0"/>
                </a:cubicBezTo>
                <a:cubicBezTo>
                  <a:pt x="41991" y="0"/>
                  <a:pt x="0" y="41991"/>
                  <a:pt x="0" y="93713"/>
                </a:cubicBezTo>
                <a:cubicBezTo>
                  <a:pt x="0" y="145434"/>
                  <a:pt x="41991" y="187425"/>
                  <a:pt x="93713" y="187425"/>
                </a:cubicBezTo>
                <a:close/>
                <a:moveTo>
                  <a:pt x="124608" y="77862"/>
                </a:moveTo>
                <a:lnTo>
                  <a:pt x="95323" y="124718"/>
                </a:lnTo>
                <a:cubicBezTo>
                  <a:pt x="93786" y="127171"/>
                  <a:pt x="91150" y="128708"/>
                  <a:pt x="88258" y="128855"/>
                </a:cubicBezTo>
                <a:cubicBezTo>
                  <a:pt x="85366" y="129001"/>
                  <a:pt x="82584" y="127683"/>
                  <a:pt x="80864" y="125341"/>
                </a:cubicBezTo>
                <a:lnTo>
                  <a:pt x="63293" y="101912"/>
                </a:lnTo>
                <a:cubicBezTo>
                  <a:pt x="60364" y="98032"/>
                  <a:pt x="61169" y="92541"/>
                  <a:pt x="65050" y="89613"/>
                </a:cubicBezTo>
                <a:cubicBezTo>
                  <a:pt x="68930" y="86684"/>
                  <a:pt x="74421" y="87489"/>
                  <a:pt x="77349" y="91370"/>
                </a:cubicBezTo>
                <a:lnTo>
                  <a:pt x="87233" y="104548"/>
                </a:lnTo>
                <a:lnTo>
                  <a:pt x="109710" y="68564"/>
                </a:lnTo>
                <a:cubicBezTo>
                  <a:pt x="112272" y="64464"/>
                  <a:pt x="117690" y="63183"/>
                  <a:pt x="121826" y="65782"/>
                </a:cubicBezTo>
                <a:cubicBezTo>
                  <a:pt x="125963" y="68381"/>
                  <a:pt x="127207" y="73762"/>
                  <a:pt x="124608" y="77899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64" name="Text 62"/>
          <p:cNvSpPr/>
          <p:nvPr/>
        </p:nvSpPr>
        <p:spPr>
          <a:xfrm>
            <a:off x="5427595" y="6259997"/>
            <a:ext cx="1490029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 Architecture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167251" y="6278739"/>
            <a:ext cx="187425" cy="187425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93713" y="187425"/>
                </a:moveTo>
                <a:cubicBezTo>
                  <a:pt x="145434" y="187425"/>
                  <a:pt x="187425" y="145434"/>
                  <a:pt x="187425" y="93713"/>
                </a:cubicBezTo>
                <a:cubicBezTo>
                  <a:pt x="187425" y="41991"/>
                  <a:pt x="145434" y="0"/>
                  <a:pt x="93713" y="0"/>
                </a:cubicBezTo>
                <a:cubicBezTo>
                  <a:pt x="41991" y="0"/>
                  <a:pt x="0" y="41991"/>
                  <a:pt x="0" y="93713"/>
                </a:cubicBezTo>
                <a:cubicBezTo>
                  <a:pt x="0" y="145434"/>
                  <a:pt x="41991" y="187425"/>
                  <a:pt x="93713" y="187425"/>
                </a:cubicBezTo>
                <a:close/>
                <a:moveTo>
                  <a:pt x="124608" y="77862"/>
                </a:moveTo>
                <a:lnTo>
                  <a:pt x="95323" y="124718"/>
                </a:lnTo>
                <a:cubicBezTo>
                  <a:pt x="93786" y="127171"/>
                  <a:pt x="91150" y="128708"/>
                  <a:pt x="88258" y="128855"/>
                </a:cubicBezTo>
                <a:cubicBezTo>
                  <a:pt x="85366" y="129001"/>
                  <a:pt x="82584" y="127683"/>
                  <a:pt x="80864" y="125341"/>
                </a:cubicBezTo>
                <a:lnTo>
                  <a:pt x="63293" y="101912"/>
                </a:lnTo>
                <a:cubicBezTo>
                  <a:pt x="60364" y="98032"/>
                  <a:pt x="61169" y="92541"/>
                  <a:pt x="65050" y="89613"/>
                </a:cubicBezTo>
                <a:cubicBezTo>
                  <a:pt x="68930" y="86684"/>
                  <a:pt x="74421" y="87489"/>
                  <a:pt x="77349" y="91370"/>
                </a:cubicBezTo>
                <a:lnTo>
                  <a:pt x="87233" y="104548"/>
                </a:lnTo>
                <a:lnTo>
                  <a:pt x="109710" y="68564"/>
                </a:lnTo>
                <a:cubicBezTo>
                  <a:pt x="112272" y="64464"/>
                  <a:pt x="117690" y="63183"/>
                  <a:pt x="121826" y="65782"/>
                </a:cubicBezTo>
                <a:cubicBezTo>
                  <a:pt x="125963" y="68381"/>
                  <a:pt x="127207" y="73762"/>
                  <a:pt x="124608" y="77899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66" name="Text 64"/>
          <p:cNvSpPr/>
          <p:nvPr/>
        </p:nvSpPr>
        <p:spPr>
          <a:xfrm>
            <a:off x="7453075" y="6259997"/>
            <a:ext cx="1227634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Easy Deployment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857" y="362857"/>
            <a:ext cx="11538857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kern="0" spc="57" dirty="0">
                <a:solidFill>
                  <a:srgbClr val="2980B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2857" y="653143"/>
            <a:ext cx="11629571" cy="36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1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 and Future Scope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2857" y="1124857"/>
            <a:ext cx="870857" cy="36286"/>
          </a:xfrm>
          <a:prstGeom prst="roundRect">
            <a:avLst>
              <a:gd name="adj" fmla="val 0"/>
            </a:avLst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362857" y="1397000"/>
            <a:ext cx="5624286" cy="3066143"/>
          </a:xfrm>
          <a:custGeom>
            <a:avLst/>
            <a:gdLst/>
            <a:ahLst/>
            <a:cxnLst/>
            <a:rect l="l" t="t" r="r" b="b"/>
            <a:pathLst>
              <a:path w="5624286" h="3066143">
                <a:moveTo>
                  <a:pt x="36322" y="0"/>
                </a:moveTo>
                <a:lnTo>
                  <a:pt x="5588000" y="0"/>
                </a:lnTo>
                <a:cubicBezTo>
                  <a:pt x="5608060" y="0"/>
                  <a:pt x="5624322" y="16262"/>
                  <a:pt x="5624322" y="36322"/>
                </a:cubicBezTo>
                <a:lnTo>
                  <a:pt x="5624322" y="2993517"/>
                </a:lnTo>
                <a:cubicBezTo>
                  <a:pt x="5624356" y="3012794"/>
                  <a:pt x="5616713" y="3031291"/>
                  <a:pt x="5603082" y="3044921"/>
                </a:cubicBezTo>
                <a:cubicBezTo>
                  <a:pt x="5589452" y="3058552"/>
                  <a:pt x="5570955" y="3066195"/>
                  <a:pt x="5551678" y="3066161"/>
                </a:cubicBezTo>
                <a:lnTo>
                  <a:pt x="72517" y="3066161"/>
                </a:lnTo>
                <a:cubicBezTo>
                  <a:pt x="53262" y="3066161"/>
                  <a:pt x="34798" y="3058503"/>
                  <a:pt x="21195" y="3044876"/>
                </a:cubicBezTo>
                <a:cubicBezTo>
                  <a:pt x="7592" y="3031249"/>
                  <a:pt x="-34" y="3012772"/>
                  <a:pt x="0" y="2993517"/>
                </a:cubicBezTo>
                <a:lnTo>
                  <a:pt x="0" y="36322"/>
                </a:lnTo>
                <a:cubicBezTo>
                  <a:pt x="0" y="16275"/>
                  <a:pt x="16275" y="0"/>
                  <a:pt x="3632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62857" y="1397000"/>
            <a:ext cx="5624286" cy="36286"/>
          </a:xfrm>
          <a:custGeom>
            <a:avLst/>
            <a:gdLst/>
            <a:ahLst/>
            <a:cxnLst/>
            <a:rect l="l" t="t" r="r" b="b"/>
            <a:pathLst>
              <a:path w="5624286" h="36286">
                <a:moveTo>
                  <a:pt x="36322" y="0"/>
                </a:moveTo>
                <a:lnTo>
                  <a:pt x="5588000" y="0"/>
                </a:lnTo>
                <a:cubicBezTo>
                  <a:pt x="5608060" y="0"/>
                  <a:pt x="5624322" y="16262"/>
                  <a:pt x="5624322" y="36322"/>
                </a:cubicBezTo>
                <a:lnTo>
                  <a:pt x="5624322" y="36322"/>
                </a:lnTo>
                <a:lnTo>
                  <a:pt x="0" y="36322"/>
                </a:lnTo>
                <a:lnTo>
                  <a:pt x="0" y="36322"/>
                </a:lnTo>
                <a:cubicBezTo>
                  <a:pt x="0" y="16275"/>
                  <a:pt x="16275" y="0"/>
                  <a:pt x="36322" y="0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7" name="Shape 5"/>
          <p:cNvSpPr/>
          <p:nvPr/>
        </p:nvSpPr>
        <p:spPr>
          <a:xfrm>
            <a:off x="566964" y="1625602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>
                <a:moveTo>
                  <a:pt x="90714" y="181429"/>
                </a:moveTo>
                <a:cubicBezTo>
                  <a:pt x="140781" y="181429"/>
                  <a:pt x="181429" y="140781"/>
                  <a:pt x="181429" y="90714"/>
                </a:cubicBezTo>
                <a:cubicBezTo>
                  <a:pt x="181429" y="40648"/>
                  <a:pt x="140781" y="0"/>
                  <a:pt x="90714" y="0"/>
                </a:cubicBezTo>
                <a:cubicBezTo>
                  <a:pt x="40648" y="0"/>
                  <a:pt x="0" y="40648"/>
                  <a:pt x="0" y="90714"/>
                </a:cubicBezTo>
                <a:cubicBezTo>
                  <a:pt x="0" y="140781"/>
                  <a:pt x="40648" y="181429"/>
                  <a:pt x="90714" y="181429"/>
                </a:cubicBezTo>
                <a:close/>
                <a:moveTo>
                  <a:pt x="120622" y="75371"/>
                </a:moveTo>
                <a:lnTo>
                  <a:pt x="92273" y="120728"/>
                </a:lnTo>
                <a:cubicBezTo>
                  <a:pt x="90785" y="123102"/>
                  <a:pt x="88234" y="124590"/>
                  <a:pt x="85434" y="124732"/>
                </a:cubicBezTo>
                <a:cubicBezTo>
                  <a:pt x="82635" y="124874"/>
                  <a:pt x="79942" y="123598"/>
                  <a:pt x="78277" y="121330"/>
                </a:cubicBezTo>
                <a:lnTo>
                  <a:pt x="61268" y="98652"/>
                </a:lnTo>
                <a:cubicBezTo>
                  <a:pt x="58433" y="94896"/>
                  <a:pt x="59212" y="89580"/>
                  <a:pt x="62968" y="86746"/>
                </a:cubicBezTo>
                <a:cubicBezTo>
                  <a:pt x="66725" y="83911"/>
                  <a:pt x="72040" y="84690"/>
                  <a:pt x="74875" y="88446"/>
                </a:cubicBezTo>
                <a:lnTo>
                  <a:pt x="84442" y="101203"/>
                </a:lnTo>
                <a:lnTo>
                  <a:pt x="106199" y="66370"/>
                </a:lnTo>
                <a:cubicBezTo>
                  <a:pt x="108680" y="62402"/>
                  <a:pt x="113924" y="61161"/>
                  <a:pt x="117929" y="63677"/>
                </a:cubicBezTo>
                <a:cubicBezTo>
                  <a:pt x="121933" y="66193"/>
                  <a:pt x="123138" y="71402"/>
                  <a:pt x="120622" y="75406"/>
                </a:cubicBez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8" name="Text 6"/>
          <p:cNvSpPr/>
          <p:nvPr/>
        </p:nvSpPr>
        <p:spPr>
          <a:xfrm>
            <a:off x="822908" y="1596571"/>
            <a:ext cx="50735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4286" y="1995714"/>
            <a:ext cx="290286" cy="290286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10" name="Text 8"/>
          <p:cNvSpPr/>
          <p:nvPr/>
        </p:nvSpPr>
        <p:spPr>
          <a:xfrm>
            <a:off x="508000" y="1995714"/>
            <a:ext cx="362857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43429" y="1995714"/>
            <a:ext cx="2071007" cy="210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Quality Improvement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3429" y="2249714"/>
            <a:ext cx="4934857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generates emotionally aware, contextually appropriate responses that enhance customer satisfaction.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4286" y="2794000"/>
            <a:ext cx="290286" cy="290286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508000" y="2794000"/>
            <a:ext cx="362857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3429" y="2794000"/>
            <a:ext cx="2058307" cy="210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Consistency in Communication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43429" y="3048000"/>
            <a:ext cx="4934857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Maintains brand voice and quality standards across all customer interactions regardless of agent experience.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4286" y="3592286"/>
            <a:ext cx="290286" cy="290286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18" name="Text 16"/>
          <p:cNvSpPr/>
          <p:nvPr/>
        </p:nvSpPr>
        <p:spPr>
          <a:xfrm>
            <a:off x="508000" y="3592286"/>
            <a:ext cx="362857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3429" y="3592286"/>
            <a:ext cx="1004888" cy="210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Support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3429" y="3846286"/>
            <a:ext cx="4934857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Helps agents handle emotional conversations effectively with real-time guidance and suggestions.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2857" y="4608286"/>
            <a:ext cx="5624286" cy="1433286"/>
          </a:xfrm>
          <a:prstGeom prst="roundRect">
            <a:avLst>
              <a:gd name="adj" fmla="val 5063"/>
            </a:avLst>
          </a:prstGeom>
          <a:solidFill>
            <a:srgbClr val="2980B9"/>
          </a:solidFill>
          <a:ln/>
        </p:spPr>
      </p:sp>
      <p:sp>
        <p:nvSpPr>
          <p:cNvPr id="22" name="Shape 20"/>
          <p:cNvSpPr/>
          <p:nvPr/>
        </p:nvSpPr>
        <p:spPr>
          <a:xfrm>
            <a:off x="566964" y="4818745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>
                <a:moveTo>
                  <a:pt x="51133" y="0"/>
                </a:moveTo>
                <a:lnTo>
                  <a:pt x="130508" y="0"/>
                </a:lnTo>
                <a:cubicBezTo>
                  <a:pt x="139898" y="0"/>
                  <a:pt x="147552" y="7725"/>
                  <a:pt x="147198" y="17080"/>
                </a:cubicBezTo>
                <a:cubicBezTo>
                  <a:pt x="147127" y="18958"/>
                  <a:pt x="147056" y="20836"/>
                  <a:pt x="146950" y="22679"/>
                </a:cubicBezTo>
                <a:lnTo>
                  <a:pt x="164526" y="22679"/>
                </a:lnTo>
                <a:cubicBezTo>
                  <a:pt x="173775" y="22679"/>
                  <a:pt x="181925" y="30333"/>
                  <a:pt x="181216" y="40325"/>
                </a:cubicBezTo>
                <a:cubicBezTo>
                  <a:pt x="178558" y="77072"/>
                  <a:pt x="159778" y="97270"/>
                  <a:pt x="139402" y="107830"/>
                </a:cubicBezTo>
                <a:cubicBezTo>
                  <a:pt x="133804" y="110735"/>
                  <a:pt x="128098" y="112897"/>
                  <a:pt x="122677" y="114491"/>
                </a:cubicBezTo>
                <a:cubicBezTo>
                  <a:pt x="115519" y="124626"/>
                  <a:pt x="108078" y="129977"/>
                  <a:pt x="102160" y="132847"/>
                </a:cubicBezTo>
                <a:lnTo>
                  <a:pt x="102160" y="158750"/>
                </a:lnTo>
                <a:lnTo>
                  <a:pt x="124838" y="158750"/>
                </a:lnTo>
                <a:cubicBezTo>
                  <a:pt x="131110" y="158750"/>
                  <a:pt x="136178" y="163817"/>
                  <a:pt x="136178" y="170089"/>
                </a:cubicBezTo>
                <a:cubicBezTo>
                  <a:pt x="136178" y="176361"/>
                  <a:pt x="131110" y="181429"/>
                  <a:pt x="124838" y="181429"/>
                </a:cubicBezTo>
                <a:lnTo>
                  <a:pt x="56803" y="181429"/>
                </a:lnTo>
                <a:cubicBezTo>
                  <a:pt x="50531" y="181429"/>
                  <a:pt x="45463" y="176361"/>
                  <a:pt x="45463" y="170089"/>
                </a:cubicBezTo>
                <a:cubicBezTo>
                  <a:pt x="45463" y="163817"/>
                  <a:pt x="50531" y="158750"/>
                  <a:pt x="56803" y="158750"/>
                </a:cubicBezTo>
                <a:lnTo>
                  <a:pt x="79481" y="158750"/>
                </a:lnTo>
                <a:lnTo>
                  <a:pt x="79481" y="132847"/>
                </a:lnTo>
                <a:cubicBezTo>
                  <a:pt x="73812" y="130118"/>
                  <a:pt x="66760" y="125051"/>
                  <a:pt x="59886" y="115732"/>
                </a:cubicBezTo>
                <a:cubicBezTo>
                  <a:pt x="53366" y="114031"/>
                  <a:pt x="46278" y="111444"/>
                  <a:pt x="39369" y="107546"/>
                </a:cubicBezTo>
                <a:cubicBezTo>
                  <a:pt x="20198" y="96809"/>
                  <a:pt x="2906" y="76576"/>
                  <a:pt x="425" y="40254"/>
                </a:cubicBezTo>
                <a:cubicBezTo>
                  <a:pt x="-248" y="30297"/>
                  <a:pt x="7867" y="22643"/>
                  <a:pt x="17115" y="22643"/>
                </a:cubicBezTo>
                <a:lnTo>
                  <a:pt x="34691" y="22643"/>
                </a:lnTo>
                <a:cubicBezTo>
                  <a:pt x="34585" y="20801"/>
                  <a:pt x="34514" y="18958"/>
                  <a:pt x="34443" y="17044"/>
                </a:cubicBezTo>
                <a:cubicBezTo>
                  <a:pt x="34089" y="7654"/>
                  <a:pt x="41743" y="-35"/>
                  <a:pt x="51133" y="-35"/>
                </a:cubicBezTo>
                <a:close/>
                <a:moveTo>
                  <a:pt x="35967" y="39688"/>
                </a:moveTo>
                <a:lnTo>
                  <a:pt x="17399" y="39688"/>
                </a:lnTo>
                <a:cubicBezTo>
                  <a:pt x="19596" y="69701"/>
                  <a:pt x="33380" y="84726"/>
                  <a:pt x="47590" y="92699"/>
                </a:cubicBezTo>
                <a:cubicBezTo>
                  <a:pt x="42487" y="79481"/>
                  <a:pt x="38270" y="62224"/>
                  <a:pt x="35967" y="39688"/>
                </a:cubicBezTo>
                <a:close/>
                <a:moveTo>
                  <a:pt x="134654" y="90998"/>
                </a:moveTo>
                <a:cubicBezTo>
                  <a:pt x="149005" y="82564"/>
                  <a:pt x="161975" y="67575"/>
                  <a:pt x="164172" y="39688"/>
                </a:cubicBezTo>
                <a:lnTo>
                  <a:pt x="145639" y="39688"/>
                </a:lnTo>
                <a:cubicBezTo>
                  <a:pt x="143442" y="61268"/>
                  <a:pt x="139473" y="78028"/>
                  <a:pt x="134654" y="9099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08" y="4789714"/>
            <a:ext cx="50735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Impact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4286" y="5152571"/>
            <a:ext cx="5334000" cy="707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3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ToneCraft AI demonstrates the practical application of emotion-aware AI in customer support, providing a scalable solution that bridges the gap between automated efficiency and human empathy.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04857" y="1397000"/>
            <a:ext cx="5624286" cy="3138714"/>
          </a:xfrm>
          <a:custGeom>
            <a:avLst/>
            <a:gdLst/>
            <a:ahLst/>
            <a:cxnLst/>
            <a:rect l="l" t="t" r="r" b="b"/>
            <a:pathLst>
              <a:path w="5624286" h="3138714">
                <a:moveTo>
                  <a:pt x="36322" y="0"/>
                </a:moveTo>
                <a:lnTo>
                  <a:pt x="5588000" y="0"/>
                </a:lnTo>
                <a:cubicBezTo>
                  <a:pt x="5608060" y="0"/>
                  <a:pt x="5624322" y="16262"/>
                  <a:pt x="5624322" y="36322"/>
                </a:cubicBezTo>
                <a:lnTo>
                  <a:pt x="5624322" y="3066161"/>
                </a:lnTo>
                <a:cubicBezTo>
                  <a:pt x="5624322" y="3085416"/>
                  <a:pt x="5616664" y="3103880"/>
                  <a:pt x="5603037" y="3117483"/>
                </a:cubicBezTo>
                <a:cubicBezTo>
                  <a:pt x="5589410" y="3131086"/>
                  <a:pt x="5570933" y="3138712"/>
                  <a:pt x="5551678" y="3138678"/>
                </a:cubicBezTo>
                <a:lnTo>
                  <a:pt x="72517" y="3138678"/>
                </a:lnTo>
                <a:cubicBezTo>
                  <a:pt x="32467" y="3138678"/>
                  <a:pt x="0" y="3106211"/>
                  <a:pt x="0" y="3066161"/>
                </a:cubicBezTo>
                <a:lnTo>
                  <a:pt x="0" y="36322"/>
                </a:lnTo>
                <a:cubicBezTo>
                  <a:pt x="0" y="16275"/>
                  <a:pt x="16275" y="0"/>
                  <a:pt x="3632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204857" y="1397000"/>
            <a:ext cx="5624286" cy="36286"/>
          </a:xfrm>
          <a:custGeom>
            <a:avLst/>
            <a:gdLst/>
            <a:ahLst/>
            <a:cxnLst/>
            <a:rect l="l" t="t" r="r" b="b"/>
            <a:pathLst>
              <a:path w="5624286" h="36286">
                <a:moveTo>
                  <a:pt x="36322" y="0"/>
                </a:moveTo>
                <a:lnTo>
                  <a:pt x="5588000" y="0"/>
                </a:lnTo>
                <a:cubicBezTo>
                  <a:pt x="5608060" y="0"/>
                  <a:pt x="5624322" y="16262"/>
                  <a:pt x="5624322" y="36322"/>
                </a:cubicBezTo>
                <a:lnTo>
                  <a:pt x="5624322" y="36322"/>
                </a:lnTo>
                <a:lnTo>
                  <a:pt x="0" y="36322"/>
                </a:lnTo>
                <a:lnTo>
                  <a:pt x="0" y="36322"/>
                </a:lnTo>
                <a:cubicBezTo>
                  <a:pt x="0" y="16275"/>
                  <a:pt x="16275" y="0"/>
                  <a:pt x="36322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8964" y="1625602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>
                <a:moveTo>
                  <a:pt x="45357" y="113393"/>
                </a:moveTo>
                <a:lnTo>
                  <a:pt x="8682" y="113393"/>
                </a:lnTo>
                <a:cubicBezTo>
                  <a:pt x="-142" y="113393"/>
                  <a:pt x="-5563" y="103790"/>
                  <a:pt x="-1028" y="96207"/>
                </a:cubicBezTo>
                <a:lnTo>
                  <a:pt x="17718" y="64953"/>
                </a:lnTo>
                <a:cubicBezTo>
                  <a:pt x="20801" y="59815"/>
                  <a:pt x="26328" y="56696"/>
                  <a:pt x="32317" y="56696"/>
                </a:cubicBezTo>
                <a:lnTo>
                  <a:pt x="65980" y="56696"/>
                </a:lnTo>
                <a:cubicBezTo>
                  <a:pt x="92947" y="11020"/>
                  <a:pt x="133166" y="8717"/>
                  <a:pt x="160061" y="12650"/>
                </a:cubicBezTo>
                <a:cubicBezTo>
                  <a:pt x="164597" y="13324"/>
                  <a:pt x="168140" y="16867"/>
                  <a:pt x="168778" y="21367"/>
                </a:cubicBezTo>
                <a:cubicBezTo>
                  <a:pt x="172711" y="48263"/>
                  <a:pt x="170408" y="88482"/>
                  <a:pt x="124732" y="115448"/>
                </a:cubicBezTo>
                <a:lnTo>
                  <a:pt x="124732" y="149112"/>
                </a:lnTo>
                <a:cubicBezTo>
                  <a:pt x="124732" y="155100"/>
                  <a:pt x="121614" y="160628"/>
                  <a:pt x="116476" y="163711"/>
                </a:cubicBezTo>
                <a:lnTo>
                  <a:pt x="85222" y="182456"/>
                </a:lnTo>
                <a:cubicBezTo>
                  <a:pt x="77674" y="186992"/>
                  <a:pt x="68036" y="181535"/>
                  <a:pt x="68036" y="172747"/>
                </a:cubicBezTo>
                <a:lnTo>
                  <a:pt x="68036" y="136071"/>
                </a:lnTo>
                <a:cubicBezTo>
                  <a:pt x="68036" y="123563"/>
                  <a:pt x="57866" y="113393"/>
                  <a:pt x="45357" y="113393"/>
                </a:cubicBezTo>
                <a:lnTo>
                  <a:pt x="45322" y="113393"/>
                </a:lnTo>
                <a:close/>
                <a:moveTo>
                  <a:pt x="141741" y="56696"/>
                </a:moveTo>
                <a:cubicBezTo>
                  <a:pt x="141741" y="47309"/>
                  <a:pt x="134120" y="39688"/>
                  <a:pt x="124732" y="39688"/>
                </a:cubicBezTo>
                <a:cubicBezTo>
                  <a:pt x="115345" y="39688"/>
                  <a:pt x="107723" y="47309"/>
                  <a:pt x="107723" y="56696"/>
                </a:cubicBezTo>
                <a:cubicBezTo>
                  <a:pt x="107723" y="66084"/>
                  <a:pt x="115345" y="73705"/>
                  <a:pt x="124732" y="73705"/>
                </a:cubicBezTo>
                <a:cubicBezTo>
                  <a:pt x="134120" y="73705"/>
                  <a:pt x="141741" y="66084"/>
                  <a:pt x="141741" y="56696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8" name="Text 26"/>
          <p:cNvSpPr/>
          <p:nvPr/>
        </p:nvSpPr>
        <p:spPr>
          <a:xfrm>
            <a:off x="6664908" y="1596571"/>
            <a:ext cx="50735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86286" y="1995714"/>
            <a:ext cx="435429" cy="435429"/>
          </a:xfrm>
          <a:prstGeom prst="roundRect">
            <a:avLst>
              <a:gd name="adj" fmla="val 16667"/>
            </a:avLst>
          </a:prstGeom>
          <a:solidFill>
            <a:srgbClr val="2C3E50"/>
          </a:solidFill>
          <a:ln/>
        </p:spPr>
      </p:sp>
      <p:sp>
        <p:nvSpPr>
          <p:cNvPr id="30" name="Shape 28"/>
          <p:cNvSpPr/>
          <p:nvPr/>
        </p:nvSpPr>
        <p:spPr>
          <a:xfrm>
            <a:off x="6513286" y="2122714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>
                <a:moveTo>
                  <a:pt x="42522" y="19844"/>
                </a:moveTo>
                <a:cubicBezTo>
                  <a:pt x="42522" y="8894"/>
                  <a:pt x="51417" y="0"/>
                  <a:pt x="62366" y="0"/>
                </a:cubicBezTo>
                <a:lnTo>
                  <a:pt x="70871" y="0"/>
                </a:lnTo>
                <a:cubicBezTo>
                  <a:pt x="77143" y="0"/>
                  <a:pt x="82210" y="5067"/>
                  <a:pt x="82210" y="11339"/>
                </a:cubicBezTo>
                <a:lnTo>
                  <a:pt x="82210" y="170089"/>
                </a:lnTo>
                <a:cubicBezTo>
                  <a:pt x="82210" y="176361"/>
                  <a:pt x="77143" y="181429"/>
                  <a:pt x="70871" y="181429"/>
                </a:cubicBezTo>
                <a:lnTo>
                  <a:pt x="59531" y="181429"/>
                </a:lnTo>
                <a:cubicBezTo>
                  <a:pt x="48972" y="181429"/>
                  <a:pt x="40077" y="174200"/>
                  <a:pt x="37561" y="164420"/>
                </a:cubicBezTo>
                <a:cubicBezTo>
                  <a:pt x="37313" y="164420"/>
                  <a:pt x="37101" y="164420"/>
                  <a:pt x="36853" y="164420"/>
                </a:cubicBezTo>
                <a:cubicBezTo>
                  <a:pt x="21190" y="164420"/>
                  <a:pt x="8504" y="151734"/>
                  <a:pt x="8504" y="136071"/>
                </a:cubicBezTo>
                <a:cubicBezTo>
                  <a:pt x="8504" y="129693"/>
                  <a:pt x="10631" y="123811"/>
                  <a:pt x="14174" y="119063"/>
                </a:cubicBezTo>
                <a:cubicBezTo>
                  <a:pt x="7300" y="113889"/>
                  <a:pt x="2835" y="105668"/>
                  <a:pt x="2835" y="96384"/>
                </a:cubicBezTo>
                <a:cubicBezTo>
                  <a:pt x="2835" y="85434"/>
                  <a:pt x="9071" y="75902"/>
                  <a:pt x="18143" y="71189"/>
                </a:cubicBezTo>
                <a:cubicBezTo>
                  <a:pt x="15627" y="66937"/>
                  <a:pt x="14174" y="61976"/>
                  <a:pt x="14174" y="56696"/>
                </a:cubicBezTo>
                <a:cubicBezTo>
                  <a:pt x="14174" y="41034"/>
                  <a:pt x="26860" y="28348"/>
                  <a:pt x="42522" y="28348"/>
                </a:cubicBezTo>
                <a:lnTo>
                  <a:pt x="42522" y="19844"/>
                </a:lnTo>
                <a:close/>
                <a:moveTo>
                  <a:pt x="138906" y="19844"/>
                </a:moveTo>
                <a:lnTo>
                  <a:pt x="138906" y="28348"/>
                </a:lnTo>
                <a:cubicBezTo>
                  <a:pt x="154569" y="28348"/>
                  <a:pt x="167254" y="41034"/>
                  <a:pt x="167254" y="56696"/>
                </a:cubicBezTo>
                <a:cubicBezTo>
                  <a:pt x="167254" y="62012"/>
                  <a:pt x="165802" y="66973"/>
                  <a:pt x="163286" y="71189"/>
                </a:cubicBezTo>
                <a:cubicBezTo>
                  <a:pt x="172393" y="75902"/>
                  <a:pt x="178594" y="85399"/>
                  <a:pt x="178594" y="96384"/>
                </a:cubicBezTo>
                <a:cubicBezTo>
                  <a:pt x="178594" y="105668"/>
                  <a:pt x="174129" y="113889"/>
                  <a:pt x="167254" y="119063"/>
                </a:cubicBezTo>
                <a:cubicBezTo>
                  <a:pt x="170798" y="123811"/>
                  <a:pt x="172924" y="129693"/>
                  <a:pt x="172924" y="136071"/>
                </a:cubicBezTo>
                <a:cubicBezTo>
                  <a:pt x="172924" y="151734"/>
                  <a:pt x="160238" y="164420"/>
                  <a:pt x="144576" y="164420"/>
                </a:cubicBezTo>
                <a:cubicBezTo>
                  <a:pt x="144328" y="164420"/>
                  <a:pt x="144115" y="164420"/>
                  <a:pt x="143867" y="164420"/>
                </a:cubicBezTo>
                <a:cubicBezTo>
                  <a:pt x="141351" y="174200"/>
                  <a:pt x="132457" y="181429"/>
                  <a:pt x="121897" y="181429"/>
                </a:cubicBezTo>
                <a:lnTo>
                  <a:pt x="110558" y="181429"/>
                </a:lnTo>
                <a:cubicBezTo>
                  <a:pt x="104286" y="181429"/>
                  <a:pt x="99219" y="176361"/>
                  <a:pt x="99219" y="170089"/>
                </a:cubicBezTo>
                <a:lnTo>
                  <a:pt x="99219" y="11339"/>
                </a:lnTo>
                <a:cubicBezTo>
                  <a:pt x="99219" y="5067"/>
                  <a:pt x="104286" y="0"/>
                  <a:pt x="110558" y="0"/>
                </a:cubicBezTo>
                <a:lnTo>
                  <a:pt x="119063" y="0"/>
                </a:lnTo>
                <a:cubicBezTo>
                  <a:pt x="130012" y="0"/>
                  <a:pt x="138906" y="8894"/>
                  <a:pt x="138906" y="1984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930571" y="1995714"/>
            <a:ext cx="47987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Emotion Models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30571" y="2249714"/>
            <a:ext cx="4789714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of state-of-the-art transformer models for more nuanced emotion detection and contextual understanding.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86286" y="2830286"/>
            <a:ext cx="435429" cy="435429"/>
          </a:xfrm>
          <a:prstGeom prst="roundRect">
            <a:avLst>
              <a:gd name="adj" fmla="val 16667"/>
            </a:avLst>
          </a:prstGeom>
          <a:solidFill>
            <a:srgbClr val="2C3E50"/>
          </a:solidFill>
          <a:ln/>
        </p:spPr>
      </p:sp>
      <p:sp>
        <p:nvSpPr>
          <p:cNvPr id="34" name="Shape 32"/>
          <p:cNvSpPr/>
          <p:nvPr/>
        </p:nvSpPr>
        <p:spPr>
          <a:xfrm>
            <a:off x="6501946" y="2957286"/>
            <a:ext cx="204107" cy="181429"/>
          </a:xfrm>
          <a:custGeom>
            <a:avLst/>
            <a:gdLst/>
            <a:ahLst/>
            <a:cxnLst/>
            <a:rect l="l" t="t" r="r" b="b"/>
            <a:pathLst>
              <a:path w="204107" h="181429">
                <a:moveTo>
                  <a:pt x="0" y="119063"/>
                </a:moveTo>
                <a:cubicBezTo>
                  <a:pt x="0" y="147234"/>
                  <a:pt x="22856" y="170089"/>
                  <a:pt x="51027" y="170089"/>
                </a:cubicBezTo>
                <a:lnTo>
                  <a:pt x="158750" y="170089"/>
                </a:lnTo>
                <a:cubicBezTo>
                  <a:pt x="183803" y="170089"/>
                  <a:pt x="204107" y="149785"/>
                  <a:pt x="204107" y="124732"/>
                </a:cubicBezTo>
                <a:cubicBezTo>
                  <a:pt x="204107" y="106448"/>
                  <a:pt x="193299" y="90679"/>
                  <a:pt x="177708" y="83521"/>
                </a:cubicBezTo>
                <a:cubicBezTo>
                  <a:pt x="180082" y="78879"/>
                  <a:pt x="181429" y="73599"/>
                  <a:pt x="181429" y="68036"/>
                </a:cubicBezTo>
                <a:cubicBezTo>
                  <a:pt x="181429" y="49255"/>
                  <a:pt x="166191" y="34018"/>
                  <a:pt x="147411" y="34018"/>
                </a:cubicBezTo>
                <a:cubicBezTo>
                  <a:pt x="141139" y="34018"/>
                  <a:pt x="135292" y="35719"/>
                  <a:pt x="130260" y="38660"/>
                </a:cubicBezTo>
                <a:cubicBezTo>
                  <a:pt x="121720" y="22431"/>
                  <a:pt x="104676" y="11339"/>
                  <a:pt x="85045" y="11339"/>
                </a:cubicBezTo>
                <a:cubicBezTo>
                  <a:pt x="56874" y="11339"/>
                  <a:pt x="34018" y="34195"/>
                  <a:pt x="34018" y="62366"/>
                </a:cubicBezTo>
                <a:cubicBezTo>
                  <a:pt x="34018" y="65201"/>
                  <a:pt x="34266" y="68000"/>
                  <a:pt x="34691" y="70693"/>
                </a:cubicBezTo>
                <a:cubicBezTo>
                  <a:pt x="14528" y="77497"/>
                  <a:pt x="0" y="96597"/>
                  <a:pt x="0" y="1190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930571" y="2830286"/>
            <a:ext cx="47987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Database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30571" y="3084286"/>
            <a:ext cx="4789714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Migration to cloud-based database solutions for improved scalability, reliability, and multi-team access.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86286" y="3664857"/>
            <a:ext cx="435429" cy="435429"/>
          </a:xfrm>
          <a:prstGeom prst="roundRect">
            <a:avLst>
              <a:gd name="adj" fmla="val 16667"/>
            </a:avLst>
          </a:prstGeom>
          <a:solidFill>
            <a:srgbClr val="2C3E50"/>
          </a:solidFill>
          <a:ln/>
        </p:spPr>
      </p:sp>
      <p:sp>
        <p:nvSpPr>
          <p:cNvPr id="38" name="Shape 36"/>
          <p:cNvSpPr/>
          <p:nvPr/>
        </p:nvSpPr>
        <p:spPr>
          <a:xfrm>
            <a:off x="6524625" y="3791857"/>
            <a:ext cx="158750" cy="181429"/>
          </a:xfrm>
          <a:custGeom>
            <a:avLst/>
            <a:gdLst/>
            <a:ahLst/>
            <a:cxnLst/>
            <a:rect l="l" t="t" r="r" b="b"/>
            <a:pathLst>
              <a:path w="158750" h="181429">
                <a:moveTo>
                  <a:pt x="45357" y="-11339"/>
                </a:moveTo>
                <a:cubicBezTo>
                  <a:pt x="51629" y="-11339"/>
                  <a:pt x="56696" y="-6272"/>
                  <a:pt x="56696" y="0"/>
                </a:cubicBezTo>
                <a:lnTo>
                  <a:pt x="56696" y="34018"/>
                </a:lnTo>
                <a:lnTo>
                  <a:pt x="102054" y="34018"/>
                </a:lnTo>
                <a:lnTo>
                  <a:pt x="102054" y="0"/>
                </a:lnTo>
                <a:cubicBezTo>
                  <a:pt x="102054" y="-6272"/>
                  <a:pt x="107121" y="-11339"/>
                  <a:pt x="113393" y="-11339"/>
                </a:cubicBezTo>
                <a:cubicBezTo>
                  <a:pt x="119665" y="-11339"/>
                  <a:pt x="124732" y="-6272"/>
                  <a:pt x="124732" y="0"/>
                </a:cubicBezTo>
                <a:lnTo>
                  <a:pt x="124732" y="34018"/>
                </a:lnTo>
                <a:lnTo>
                  <a:pt x="147411" y="34018"/>
                </a:lnTo>
                <a:cubicBezTo>
                  <a:pt x="153683" y="34018"/>
                  <a:pt x="158750" y="39085"/>
                  <a:pt x="158750" y="45357"/>
                </a:cubicBezTo>
                <a:cubicBezTo>
                  <a:pt x="158750" y="51629"/>
                  <a:pt x="153683" y="56696"/>
                  <a:pt x="147411" y="56696"/>
                </a:cubicBezTo>
                <a:lnTo>
                  <a:pt x="147411" y="79375"/>
                </a:lnTo>
                <a:cubicBezTo>
                  <a:pt x="147411" y="113074"/>
                  <a:pt x="122890" y="141068"/>
                  <a:pt x="90714" y="146454"/>
                </a:cubicBezTo>
                <a:lnTo>
                  <a:pt x="90714" y="170089"/>
                </a:lnTo>
                <a:cubicBezTo>
                  <a:pt x="90714" y="176361"/>
                  <a:pt x="85647" y="181429"/>
                  <a:pt x="79375" y="181429"/>
                </a:cubicBezTo>
                <a:cubicBezTo>
                  <a:pt x="73103" y="181429"/>
                  <a:pt x="68036" y="176361"/>
                  <a:pt x="68036" y="170089"/>
                </a:cubicBezTo>
                <a:lnTo>
                  <a:pt x="68036" y="146454"/>
                </a:lnTo>
                <a:cubicBezTo>
                  <a:pt x="35860" y="141068"/>
                  <a:pt x="11339" y="113074"/>
                  <a:pt x="11339" y="79375"/>
                </a:cubicBezTo>
                <a:lnTo>
                  <a:pt x="11339" y="56696"/>
                </a:lnTo>
                <a:cubicBezTo>
                  <a:pt x="5067" y="56696"/>
                  <a:pt x="0" y="51629"/>
                  <a:pt x="0" y="45357"/>
                </a:cubicBezTo>
                <a:cubicBezTo>
                  <a:pt x="0" y="39085"/>
                  <a:pt x="5067" y="34018"/>
                  <a:pt x="11339" y="34018"/>
                </a:cubicBezTo>
                <a:lnTo>
                  <a:pt x="34018" y="34018"/>
                </a:lnTo>
                <a:lnTo>
                  <a:pt x="34018" y="0"/>
                </a:lnTo>
                <a:cubicBezTo>
                  <a:pt x="34018" y="-6272"/>
                  <a:pt x="39085" y="-11339"/>
                  <a:pt x="45357" y="-1133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930571" y="3664857"/>
            <a:ext cx="47987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CRM Integration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30571" y="3918857"/>
            <a:ext cx="4789714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Seamless integration with popular CRM systems like Salesforce, HubSpot, and Zendesk for unified workflows.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04857" y="4680857"/>
            <a:ext cx="5624286" cy="1814286"/>
          </a:xfrm>
          <a:prstGeom prst="roundRect">
            <a:avLst>
              <a:gd name="adj" fmla="val 4000"/>
            </a:avLst>
          </a:prstGeom>
          <a:solidFill>
            <a:srgbClr val="2C3E50"/>
          </a:solidFill>
          <a:ln/>
        </p:spPr>
      </p:sp>
      <p:sp>
        <p:nvSpPr>
          <p:cNvPr id="42" name="Shape 40"/>
          <p:cNvSpPr/>
          <p:nvPr/>
        </p:nvSpPr>
        <p:spPr>
          <a:xfrm>
            <a:off x="6408964" y="4905827"/>
            <a:ext cx="163286" cy="163286"/>
          </a:xfrm>
          <a:custGeom>
            <a:avLst/>
            <a:gdLst/>
            <a:ahLst/>
            <a:cxnLst/>
            <a:rect l="l" t="t" r="r" b="b"/>
            <a:pathLst>
              <a:path w="163286" h="163286">
                <a:moveTo>
                  <a:pt x="71406" y="10205"/>
                </a:moveTo>
                <a:lnTo>
                  <a:pt x="47104" y="10205"/>
                </a:lnTo>
                <a:cubicBezTo>
                  <a:pt x="37728" y="10205"/>
                  <a:pt x="29532" y="16616"/>
                  <a:pt x="27299" y="25705"/>
                </a:cubicBezTo>
                <a:lnTo>
                  <a:pt x="446" y="134105"/>
                </a:lnTo>
                <a:cubicBezTo>
                  <a:pt x="-1945" y="143736"/>
                  <a:pt x="5358" y="153080"/>
                  <a:pt x="15308" y="153080"/>
                </a:cubicBezTo>
                <a:lnTo>
                  <a:pt x="71406" y="153080"/>
                </a:lnTo>
                <a:lnTo>
                  <a:pt x="71406" y="132670"/>
                </a:lnTo>
                <a:cubicBezTo>
                  <a:pt x="71406" y="127025"/>
                  <a:pt x="75966" y="122464"/>
                  <a:pt x="81611" y="122464"/>
                </a:cubicBezTo>
                <a:cubicBezTo>
                  <a:pt x="87256" y="122464"/>
                  <a:pt x="91816" y="127025"/>
                  <a:pt x="91816" y="132670"/>
                </a:cubicBezTo>
                <a:lnTo>
                  <a:pt x="91816" y="153080"/>
                </a:lnTo>
                <a:lnTo>
                  <a:pt x="147978" y="153080"/>
                </a:lnTo>
                <a:cubicBezTo>
                  <a:pt x="157928" y="153080"/>
                  <a:pt x="165231" y="143736"/>
                  <a:pt x="162839" y="134105"/>
                </a:cubicBezTo>
                <a:lnTo>
                  <a:pt x="136018" y="25705"/>
                </a:lnTo>
                <a:cubicBezTo>
                  <a:pt x="133754" y="16616"/>
                  <a:pt x="125590" y="10205"/>
                  <a:pt x="116182" y="10205"/>
                </a:cubicBezTo>
                <a:lnTo>
                  <a:pt x="91816" y="10205"/>
                </a:lnTo>
                <a:lnTo>
                  <a:pt x="91816" y="30616"/>
                </a:lnTo>
                <a:cubicBezTo>
                  <a:pt x="91816" y="36261"/>
                  <a:pt x="87256" y="40821"/>
                  <a:pt x="81611" y="40821"/>
                </a:cubicBezTo>
                <a:cubicBezTo>
                  <a:pt x="75966" y="40821"/>
                  <a:pt x="71406" y="36261"/>
                  <a:pt x="71406" y="30616"/>
                </a:cubicBezTo>
                <a:lnTo>
                  <a:pt x="71406" y="10205"/>
                </a:lnTo>
                <a:close/>
                <a:moveTo>
                  <a:pt x="91816" y="71438"/>
                </a:moveTo>
                <a:lnTo>
                  <a:pt x="91816" y="91848"/>
                </a:lnTo>
                <a:cubicBezTo>
                  <a:pt x="91816" y="97493"/>
                  <a:pt x="87256" y="102054"/>
                  <a:pt x="81611" y="102054"/>
                </a:cubicBezTo>
                <a:cubicBezTo>
                  <a:pt x="75966" y="102054"/>
                  <a:pt x="71406" y="97493"/>
                  <a:pt x="71406" y="91848"/>
                </a:cubicBezTo>
                <a:lnTo>
                  <a:pt x="71406" y="71438"/>
                </a:lnTo>
                <a:cubicBezTo>
                  <a:pt x="71406" y="65793"/>
                  <a:pt x="75966" y="61232"/>
                  <a:pt x="81611" y="61232"/>
                </a:cubicBezTo>
                <a:cubicBezTo>
                  <a:pt x="87256" y="61232"/>
                  <a:pt x="91816" y="65793"/>
                  <a:pt x="91816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646765" y="4862286"/>
            <a:ext cx="50825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Roadmap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86286" y="5279571"/>
            <a:ext cx="108857" cy="108857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45" name="Text 43"/>
          <p:cNvSpPr/>
          <p:nvPr/>
        </p:nvSpPr>
        <p:spPr>
          <a:xfrm>
            <a:off x="6567714" y="5225143"/>
            <a:ext cx="3057071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1: Enhanced emotion detection accuracy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86286" y="5569857"/>
            <a:ext cx="108857" cy="108857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47" name="Text 45"/>
          <p:cNvSpPr/>
          <p:nvPr/>
        </p:nvSpPr>
        <p:spPr>
          <a:xfrm>
            <a:off x="6567714" y="5515429"/>
            <a:ext cx="2140857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2: Multi-language support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86286" y="5860143"/>
            <a:ext cx="108857" cy="108857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49" name="Text 47"/>
          <p:cNvSpPr/>
          <p:nvPr/>
        </p:nvSpPr>
        <p:spPr>
          <a:xfrm>
            <a:off x="6567714" y="5805714"/>
            <a:ext cx="2440214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3: Enterprise CRM integrations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86286" y="6150429"/>
            <a:ext cx="108857" cy="108857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51" name="Text 49"/>
          <p:cNvSpPr/>
          <p:nvPr/>
        </p:nvSpPr>
        <p:spPr>
          <a:xfrm>
            <a:off x="6567714" y="6096000"/>
            <a:ext cx="2567214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4: Real-time analytics dashboard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1394</Words>
  <Application>Microsoft Office PowerPoint</Application>
  <PresentationFormat>Custom</PresentationFormat>
  <Paragraphs>258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Liter</vt:lpstr>
      <vt:lpstr>Calibri</vt:lpstr>
      <vt:lpstr>Quattrocento Sans</vt:lpstr>
      <vt:lpstr>Custom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Moonshot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ToneCraft AI: Emotion-Aware Response Composer</dc:title>
  <dc:subject>ToneCraft AI: Emotion-Aware Response Composer</dc:subject>
  <dc:creator>Kimi</dc:creator>
  <cp:lastModifiedBy>NIKHIL KUMAR</cp:lastModifiedBy>
  <cp:revision>2</cp:revision>
  <dcterms:created xsi:type="dcterms:W3CDTF">2026-05-01T05:27:44Z</dcterms:created>
  <dcterms:modified xsi:type="dcterms:W3CDTF">2026-05-01T05:57:11Z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{"Label":"ToneCraft AI: Emotion-Aware Response Composer","ContentProducer":"001191110108MACG2KBH8F10000","ProduceID":"19de1f82-8e22-89f0-8000-0000e56b1f71","ReservedCode1":"","ContentPropagator":"001191110108MACG2KBH8F20000","PropagateID":"19de1f82-8e22-8</vt:lpwstr>
  </property>
</Properties>
</file>